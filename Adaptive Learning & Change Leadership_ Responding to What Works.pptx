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-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183" r="1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11501187" y="502429"/>
            <a:ext cx="162092" cy="125321"/>
          </a:xfrm>
          <a:custGeom>
            <a:avLst/>
            <a:gdLst>
              <a:gd name="connsiteX0" fmla="*/ 9855 w 162092"/>
              <a:gd name="connsiteY0" fmla="*/ 105905 h 125321"/>
              <a:gd name="connsiteX1" fmla="*/ 152826 w 162092"/>
              <a:gd name="connsiteY1" fmla="*/ 105905 h 125321"/>
              <a:gd name="connsiteX2" fmla="*/ 152826 w 162092"/>
              <a:gd name="connsiteY2" fmla="*/ 125321 h 125321"/>
              <a:gd name="connsiteX3" fmla="*/ 9855 w 162092"/>
              <a:gd name="connsiteY3" fmla="*/ 125321 h 125321"/>
              <a:gd name="connsiteX4" fmla="*/ 9855 w 162092"/>
              <a:gd name="connsiteY4" fmla="*/ 105905 h 125321"/>
              <a:gd name="connsiteX5" fmla="*/ 9855 w 162092"/>
              <a:gd name="connsiteY5" fmla="*/ 52952 h 125321"/>
              <a:gd name="connsiteX6" fmla="*/ 116936 w 162092"/>
              <a:gd name="connsiteY6" fmla="*/ 52952 h 125321"/>
              <a:gd name="connsiteX7" fmla="*/ 116936 w 162092"/>
              <a:gd name="connsiteY7" fmla="*/ 72368 h 125321"/>
              <a:gd name="connsiteX8" fmla="*/ 9855 w 162092"/>
              <a:gd name="connsiteY8" fmla="*/ 72368 h 125321"/>
              <a:gd name="connsiteX9" fmla="*/ 9855 w 162092"/>
              <a:gd name="connsiteY9" fmla="*/ 52952 h 125321"/>
              <a:gd name="connsiteX10" fmla="*/ 9267 w 162092"/>
              <a:gd name="connsiteY10" fmla="*/ 0 h 125321"/>
              <a:gd name="connsiteX11" fmla="*/ 152238 w 162092"/>
              <a:gd name="connsiteY11" fmla="*/ 0 h 125321"/>
              <a:gd name="connsiteX12" fmla="*/ 152238 w 162092"/>
              <a:gd name="connsiteY12" fmla="*/ 19416 h 125321"/>
              <a:gd name="connsiteX13" fmla="*/ 9267 w 162092"/>
              <a:gd name="connsiteY13" fmla="*/ 19416 h 125321"/>
              <a:gd name="connsiteX14" fmla="*/ 9267 w 162092"/>
              <a:gd name="connsiteY14" fmla="*/ 0 h 125321"/>
            </a:gdLst>
            <a:ahLst/>
            <a:cxnLst/>
            <a:rect l="l" t="t" r="r" b="b"/>
            <a:pathLst>
              <a:path w="162092" h="125321">
                <a:moveTo>
                  <a:pt x="9855" y="105905"/>
                </a:moveTo>
                <a:lnTo>
                  <a:pt x="152826" y="105905"/>
                </a:lnTo>
                <a:cubicBezTo>
                  <a:pt x="165181" y="105905"/>
                  <a:pt x="165181" y="125321"/>
                  <a:pt x="152826" y="125321"/>
                </a:cubicBezTo>
                <a:lnTo>
                  <a:pt x="9855" y="125321"/>
                </a:lnTo>
                <a:cubicBezTo>
                  <a:pt x="-2501" y="125321"/>
                  <a:pt x="-2501" y="105905"/>
                  <a:pt x="9855" y="105905"/>
                </a:cubicBezTo>
                <a:close/>
                <a:moveTo>
                  <a:pt x="9855" y="52952"/>
                </a:moveTo>
                <a:lnTo>
                  <a:pt x="116936" y="52952"/>
                </a:lnTo>
                <a:cubicBezTo>
                  <a:pt x="129292" y="52952"/>
                  <a:pt x="129292" y="72368"/>
                  <a:pt x="116936" y="72368"/>
                </a:cubicBezTo>
                <a:lnTo>
                  <a:pt x="9855" y="72368"/>
                </a:lnTo>
                <a:cubicBezTo>
                  <a:pt x="-2501" y="72368"/>
                  <a:pt x="-2501" y="52952"/>
                  <a:pt x="9855" y="52952"/>
                </a:cubicBezTo>
                <a:close/>
                <a:moveTo>
                  <a:pt x="9267" y="0"/>
                </a:moveTo>
                <a:lnTo>
                  <a:pt x="152238" y="0"/>
                </a:lnTo>
                <a:cubicBezTo>
                  <a:pt x="164593" y="0"/>
                  <a:pt x="164593" y="19416"/>
                  <a:pt x="152238" y="19416"/>
                </a:cubicBezTo>
                <a:lnTo>
                  <a:pt x="9267" y="19416"/>
                </a:lnTo>
                <a:cubicBezTo>
                  <a:pt x="-3089" y="19416"/>
                  <a:pt x="-3089" y="0"/>
                  <a:pt x="9267" y="0"/>
                </a:cubicBezTo>
                <a:close/>
              </a:path>
            </a:pathLst>
          </a:custGeom>
          <a:solidFill>
            <a:schemeClr val="bg1"/>
          </a:solidFill>
          <a:ln w="5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152430" y="500202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68616" y="925503"/>
            <a:ext cx="5733710" cy="29460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3300" dirty="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Adaptive Learning &amp; Change Leadership Responding to What Works </a:t>
            </a:r>
          </a:p>
          <a:p>
            <a:pPr algn="l"/>
            <a:endParaRPr kumimoji="1" lang="en-US" altLang="zh-CN" sz="3300" dirty="0">
              <a:ln w="12700">
                <a:noFill/>
              </a:ln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100000">
                    <a:schemeClr val="accent3"/>
                  </a:gs>
                </a:gsLst>
                <a:lin ang="0" scaled="0"/>
              </a:gradFill>
              <a:latin typeface="poppins-bold"/>
              <a:ea typeface="poppins-bold"/>
              <a:cs typeface="poppins-bold"/>
            </a:endParaRPr>
          </a:p>
          <a:p>
            <a:pPr algn="l"/>
            <a:r>
              <a:rPr kumimoji="1" lang="en-US" altLang="zh-CN" sz="3300" dirty="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                    BY</a:t>
            </a:r>
          </a:p>
          <a:p>
            <a:pPr algn="l"/>
            <a:r>
              <a:rPr kumimoji="1" lang="en-US" altLang="zh-CN" sz="3300" dirty="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              Group-4
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-232728" y="-309279"/>
            <a:ext cx="12946743" cy="779417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129" y="5184544"/>
            <a:ext cx="12191999" cy="1543049"/>
          </a:xfrm>
          <a:custGeom>
            <a:avLst/>
            <a:gdLst>
              <a:gd name="connsiteX0" fmla="*/ 12191999 w 12191999"/>
              <a:gd name="connsiteY0" fmla="*/ 0 h 1259914"/>
              <a:gd name="connsiteX1" fmla="*/ 12191999 w 12191999"/>
              <a:gd name="connsiteY1" fmla="*/ 1259914 h 1259914"/>
              <a:gd name="connsiteX2" fmla="*/ 0 w 12191999"/>
              <a:gd name="connsiteY2" fmla="*/ 1259914 h 1259914"/>
              <a:gd name="connsiteX3" fmla="*/ 0 w 12191999"/>
              <a:gd name="connsiteY3" fmla="*/ 322476 h 1259914"/>
              <a:gd name="connsiteX4" fmla="*/ 528974 w 12191999"/>
              <a:gd name="connsiteY4" fmla="*/ 432466 h 1259914"/>
              <a:gd name="connsiteX5" fmla="*/ 5462080 w 12191999"/>
              <a:gd name="connsiteY5" fmla="*/ 890534 h 1259914"/>
              <a:gd name="connsiteX6" fmla="*/ 12033761 w 12191999"/>
              <a:gd name="connsiteY6" fmla="*/ 46657 h 1259914"/>
            </a:gdLst>
            <a:ahLst/>
            <a:cxnLst/>
            <a:rect l="l" t="t" r="r" b="b"/>
            <a:pathLst>
              <a:path w="12191999" h="1259914">
                <a:moveTo>
                  <a:pt x="12191999" y="0"/>
                </a:moveTo>
                <a:lnTo>
                  <a:pt x="12191999" y="1259914"/>
                </a:lnTo>
                <a:lnTo>
                  <a:pt x="0" y="1259914"/>
                </a:lnTo>
                <a:lnTo>
                  <a:pt x="0" y="322476"/>
                </a:lnTo>
                <a:lnTo>
                  <a:pt x="528974" y="432466"/>
                </a:lnTo>
                <a:cubicBezTo>
                  <a:pt x="2045213" y="727427"/>
                  <a:pt x="3712232" y="890534"/>
                  <a:pt x="5462080" y="890534"/>
                </a:cubicBezTo>
                <a:cubicBezTo>
                  <a:pt x="7868121" y="890534"/>
                  <a:pt x="10117563" y="582160"/>
                  <a:pt x="12033761" y="46657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8572" y="5314952"/>
            <a:ext cx="12191999" cy="1543048"/>
          </a:xfrm>
          <a:custGeom>
            <a:avLst/>
            <a:gdLst>
              <a:gd name="connsiteX0" fmla="*/ 12191999 w 12191999"/>
              <a:gd name="connsiteY0" fmla="*/ 0 h 1259914"/>
              <a:gd name="connsiteX1" fmla="*/ 12191999 w 12191999"/>
              <a:gd name="connsiteY1" fmla="*/ 1259914 h 1259914"/>
              <a:gd name="connsiteX2" fmla="*/ 0 w 12191999"/>
              <a:gd name="connsiteY2" fmla="*/ 1259914 h 1259914"/>
              <a:gd name="connsiteX3" fmla="*/ 0 w 12191999"/>
              <a:gd name="connsiteY3" fmla="*/ 322476 h 1259914"/>
              <a:gd name="connsiteX4" fmla="*/ 528974 w 12191999"/>
              <a:gd name="connsiteY4" fmla="*/ 432466 h 1259914"/>
              <a:gd name="connsiteX5" fmla="*/ 5462080 w 12191999"/>
              <a:gd name="connsiteY5" fmla="*/ 890534 h 1259914"/>
              <a:gd name="connsiteX6" fmla="*/ 12033761 w 12191999"/>
              <a:gd name="connsiteY6" fmla="*/ 46657 h 1259914"/>
            </a:gdLst>
            <a:ahLst/>
            <a:cxnLst/>
            <a:rect l="l" t="t" r="r" b="b"/>
            <a:pathLst>
              <a:path w="12191999" h="1259914">
                <a:moveTo>
                  <a:pt x="12191999" y="0"/>
                </a:moveTo>
                <a:lnTo>
                  <a:pt x="12191999" y="1259914"/>
                </a:lnTo>
                <a:lnTo>
                  <a:pt x="0" y="1259914"/>
                </a:lnTo>
                <a:lnTo>
                  <a:pt x="0" y="322476"/>
                </a:lnTo>
                <a:lnTo>
                  <a:pt x="528974" y="432466"/>
                </a:lnTo>
                <a:cubicBezTo>
                  <a:pt x="2045213" y="727427"/>
                  <a:pt x="3712232" y="890534"/>
                  <a:pt x="5462080" y="890534"/>
                </a:cubicBezTo>
                <a:cubicBezTo>
                  <a:pt x="7868121" y="890534"/>
                  <a:pt x="10117563" y="582160"/>
                  <a:pt x="12033761" y="46657"/>
                </a:cubicBezTo>
                <a:close/>
              </a:path>
            </a:pathLst>
          </a:cu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740159" y="294402"/>
            <a:ext cx="384482" cy="384482"/>
          </a:xfrm>
          <a:prstGeom prst="ellipse">
            <a:avLst/>
          </a:prstGeom>
          <a:solidFill>
            <a:schemeClr val="accent1">
              <a:alpha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237792" y="294402"/>
            <a:ext cx="384482" cy="384482"/>
          </a:xfrm>
          <a:prstGeom prst="ellipse">
            <a:avLst/>
          </a:prstGeom>
          <a:solidFill>
            <a:schemeClr val="accent1">
              <a:alpha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734078" y="294402"/>
            <a:ext cx="384482" cy="384482"/>
          </a:xfrm>
          <a:prstGeom prst="ellipse">
            <a:avLst/>
          </a:prstGeom>
          <a:solidFill>
            <a:schemeClr val="accent1">
              <a:alpha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2230364" y="294402"/>
            <a:ext cx="384482" cy="384482"/>
          </a:xfrm>
          <a:prstGeom prst="ellipse">
            <a:avLst/>
          </a:prstGeom>
          <a:solidFill>
            <a:schemeClr val="accent1">
              <a:alpha val="5000"/>
            </a:schemeClr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56004" y="408900"/>
            <a:ext cx="155485" cy="155485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341234" y="408900"/>
            <a:ext cx="177598" cy="155485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858243" y="408899"/>
            <a:ext cx="136150" cy="155487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/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2344861" y="408899"/>
            <a:ext cx="155487" cy="155487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>
            <a:off x="2771717" y="463782"/>
            <a:ext cx="7940423" cy="0"/>
          </a:xfrm>
          <a:prstGeom prst="line">
            <a:avLst/>
          </a:prstGeom>
          <a:noFill/>
          <a:ln w="6350" cap="flat">
            <a:solidFill>
              <a:srgbClr val="707070">
                <a:alpha val="20000"/>
              </a:srgbClr>
            </a:solidFill>
            <a:prstDash val="solid"/>
            <a:miter/>
          </a:ln>
        </p:spPr>
      </p:cxnSp>
      <p:sp>
        <p:nvSpPr>
          <p:cNvPr id="15" name="标题 1"/>
          <p:cNvSpPr txBox="1"/>
          <p:nvPr/>
        </p:nvSpPr>
        <p:spPr>
          <a:xfrm>
            <a:off x="10712140" y="293224"/>
            <a:ext cx="739701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8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1"/>
                    </a:gs>
                  </a:gsLst>
                  <a:lin ang="10800000" scaled="0"/>
                </a:gradFill>
                <a:latin typeface="poppins-bold"/>
                <a:ea typeface="poppins-bold"/>
                <a:cs typeface="poppins-bold"/>
              </a:rPr>
              <a:t>202X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059262" y="1542251"/>
            <a:ext cx="4330830" cy="10778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211721" y="1648227"/>
            <a:ext cx="865926" cy="865919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145146" y="1484750"/>
            <a:ext cx="999076" cy="11928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7230106" y="1537818"/>
            <a:ext cx="2922526" cy="10867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Real-World Example: Remote Internship Onboarding Challenges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059262" y="2861055"/>
            <a:ext cx="4330830" cy="10778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211721" y="2967031"/>
            <a:ext cx="865926" cy="865919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145146" y="2803554"/>
            <a:ext cx="999076" cy="11928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7230106" y="2856622"/>
            <a:ext cx="2922526" cy="10867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406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Scenario (AI-Generated): Adaptive Leadership of AI in Legal Onboarding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6059262" y="4179859"/>
            <a:ext cx="4330830" cy="107787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noFill/>
            <a:miter/>
          </a:ln>
          <a:effectLst>
            <a:outerShdw blurRad="50800" dist="38100" dir="2700000" algn="tl" rotWithShape="0">
              <a:schemeClr val="accent1">
                <a:lumMod val="20000"/>
                <a:lumOff val="80000"/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211721" y="4285835"/>
            <a:ext cx="865926" cy="865919"/>
          </a:xfrm>
          <a:prstGeom prst="ellipse">
            <a:avLst/>
          </a:prstGeom>
          <a:gradFill>
            <a:gsLst>
              <a:gs pos="26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 w="349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6145146" y="4122358"/>
            <a:ext cx="999076" cy="119287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3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7230106" y="4175426"/>
            <a:ext cx="2922526" cy="10867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Reflection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295375" y="2481064"/>
            <a:ext cx="5138228" cy="14557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60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596625" y="2250946"/>
            <a:ext cx="829728" cy="280275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5142667" y="6401877"/>
            <a:ext cx="1906666" cy="4055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611623" y="6614240"/>
            <a:ext cx="618780" cy="57028"/>
          </a:xfrm>
          <a:custGeom>
            <a:avLst/>
            <a:gdLst>
              <a:gd name="connsiteX0" fmla="*/ 590266 w 618780"/>
              <a:gd name="connsiteY0" fmla="*/ 0 h 57028"/>
              <a:gd name="connsiteX1" fmla="*/ 618780 w 618780"/>
              <a:gd name="connsiteY1" fmla="*/ 28514 h 57028"/>
              <a:gd name="connsiteX2" fmla="*/ 590266 w 618780"/>
              <a:gd name="connsiteY2" fmla="*/ 57028 h 57028"/>
              <a:gd name="connsiteX3" fmla="*/ 561752 w 618780"/>
              <a:gd name="connsiteY3" fmla="*/ 28514 h 57028"/>
              <a:gd name="connsiteX4" fmla="*/ 590266 w 618780"/>
              <a:gd name="connsiteY4" fmla="*/ 0 h 57028"/>
              <a:gd name="connsiteX5" fmla="*/ 477914 w 618780"/>
              <a:gd name="connsiteY5" fmla="*/ 0 h 57028"/>
              <a:gd name="connsiteX6" fmla="*/ 506428 w 618780"/>
              <a:gd name="connsiteY6" fmla="*/ 28514 h 57028"/>
              <a:gd name="connsiteX7" fmla="*/ 477914 w 618780"/>
              <a:gd name="connsiteY7" fmla="*/ 57028 h 57028"/>
              <a:gd name="connsiteX8" fmla="*/ 449400 w 618780"/>
              <a:gd name="connsiteY8" fmla="*/ 28514 h 57028"/>
              <a:gd name="connsiteX9" fmla="*/ 477914 w 618780"/>
              <a:gd name="connsiteY9" fmla="*/ 0 h 57028"/>
              <a:gd name="connsiteX10" fmla="*/ 365564 w 618780"/>
              <a:gd name="connsiteY10" fmla="*/ 0 h 57028"/>
              <a:gd name="connsiteX11" fmla="*/ 394078 w 618780"/>
              <a:gd name="connsiteY11" fmla="*/ 28514 h 57028"/>
              <a:gd name="connsiteX12" fmla="*/ 365564 w 618780"/>
              <a:gd name="connsiteY12" fmla="*/ 57028 h 57028"/>
              <a:gd name="connsiteX13" fmla="*/ 337050 w 618780"/>
              <a:gd name="connsiteY13" fmla="*/ 28514 h 57028"/>
              <a:gd name="connsiteX14" fmla="*/ 365564 w 618780"/>
              <a:gd name="connsiteY14" fmla="*/ 0 h 57028"/>
              <a:gd name="connsiteX15" fmla="*/ 253214 w 618780"/>
              <a:gd name="connsiteY15" fmla="*/ 0 h 57028"/>
              <a:gd name="connsiteX16" fmla="*/ 281728 w 618780"/>
              <a:gd name="connsiteY16" fmla="*/ 28514 h 57028"/>
              <a:gd name="connsiteX17" fmla="*/ 253214 w 618780"/>
              <a:gd name="connsiteY17" fmla="*/ 57028 h 57028"/>
              <a:gd name="connsiteX18" fmla="*/ 224700 w 618780"/>
              <a:gd name="connsiteY18" fmla="*/ 28514 h 57028"/>
              <a:gd name="connsiteX19" fmla="*/ 253214 w 618780"/>
              <a:gd name="connsiteY19" fmla="*/ 0 h 57028"/>
              <a:gd name="connsiteX20" fmla="*/ 140864 w 618780"/>
              <a:gd name="connsiteY20" fmla="*/ 0 h 57028"/>
              <a:gd name="connsiteX21" fmla="*/ 169378 w 618780"/>
              <a:gd name="connsiteY21" fmla="*/ 28514 h 57028"/>
              <a:gd name="connsiteX22" fmla="*/ 140864 w 618780"/>
              <a:gd name="connsiteY22" fmla="*/ 57028 h 57028"/>
              <a:gd name="connsiteX23" fmla="*/ 112350 w 618780"/>
              <a:gd name="connsiteY23" fmla="*/ 28514 h 57028"/>
              <a:gd name="connsiteX24" fmla="*/ 140864 w 618780"/>
              <a:gd name="connsiteY24" fmla="*/ 0 h 57028"/>
              <a:gd name="connsiteX25" fmla="*/ 28514 w 618780"/>
              <a:gd name="connsiteY25" fmla="*/ 0 h 57028"/>
              <a:gd name="connsiteX26" fmla="*/ 57028 w 618780"/>
              <a:gd name="connsiteY26" fmla="*/ 28514 h 57028"/>
              <a:gd name="connsiteX27" fmla="*/ 28514 w 618780"/>
              <a:gd name="connsiteY27" fmla="*/ 57028 h 57028"/>
              <a:gd name="connsiteX28" fmla="*/ 0 w 618780"/>
              <a:gd name="connsiteY28" fmla="*/ 28514 h 57028"/>
              <a:gd name="connsiteX29" fmla="*/ 28514 w 618780"/>
              <a:gd name="connsiteY29" fmla="*/ 0 h 57028"/>
            </a:gdLst>
            <a:ahLst/>
            <a:cxnLst/>
            <a:rect l="l" t="t" r="r" b="b"/>
            <a:pathLst>
              <a:path w="618780" h="57028">
                <a:moveTo>
                  <a:pt x="590266" y="0"/>
                </a:moveTo>
                <a:cubicBezTo>
                  <a:pt x="606014" y="0"/>
                  <a:pt x="618780" y="12766"/>
                  <a:pt x="618780" y="28514"/>
                </a:cubicBezTo>
                <a:cubicBezTo>
                  <a:pt x="618780" y="44262"/>
                  <a:pt x="606014" y="57028"/>
                  <a:pt x="590266" y="57028"/>
                </a:cubicBezTo>
                <a:cubicBezTo>
                  <a:pt x="574518" y="57028"/>
                  <a:pt x="561752" y="44262"/>
                  <a:pt x="561752" y="28514"/>
                </a:cubicBezTo>
                <a:cubicBezTo>
                  <a:pt x="561752" y="12766"/>
                  <a:pt x="574518" y="0"/>
                  <a:pt x="590266" y="0"/>
                </a:cubicBezTo>
                <a:close/>
                <a:moveTo>
                  <a:pt x="477914" y="0"/>
                </a:moveTo>
                <a:cubicBezTo>
                  <a:pt x="493662" y="0"/>
                  <a:pt x="506428" y="12766"/>
                  <a:pt x="506428" y="28514"/>
                </a:cubicBezTo>
                <a:cubicBezTo>
                  <a:pt x="506428" y="44262"/>
                  <a:pt x="493662" y="57028"/>
                  <a:pt x="477914" y="57028"/>
                </a:cubicBezTo>
                <a:cubicBezTo>
                  <a:pt x="462166" y="57028"/>
                  <a:pt x="449400" y="44262"/>
                  <a:pt x="449400" y="28514"/>
                </a:cubicBezTo>
                <a:cubicBezTo>
                  <a:pt x="449400" y="12766"/>
                  <a:pt x="462166" y="0"/>
                  <a:pt x="477914" y="0"/>
                </a:cubicBezTo>
                <a:close/>
                <a:moveTo>
                  <a:pt x="365564" y="0"/>
                </a:moveTo>
                <a:cubicBezTo>
                  <a:pt x="381312" y="0"/>
                  <a:pt x="394078" y="12766"/>
                  <a:pt x="394078" y="28514"/>
                </a:cubicBezTo>
                <a:cubicBezTo>
                  <a:pt x="394078" y="44262"/>
                  <a:pt x="381312" y="57028"/>
                  <a:pt x="365564" y="57028"/>
                </a:cubicBezTo>
                <a:cubicBezTo>
                  <a:pt x="349816" y="57028"/>
                  <a:pt x="337050" y="44262"/>
                  <a:pt x="337050" y="28514"/>
                </a:cubicBezTo>
                <a:cubicBezTo>
                  <a:pt x="337050" y="12766"/>
                  <a:pt x="349816" y="0"/>
                  <a:pt x="365564" y="0"/>
                </a:cubicBezTo>
                <a:close/>
                <a:moveTo>
                  <a:pt x="253214" y="0"/>
                </a:moveTo>
                <a:cubicBezTo>
                  <a:pt x="268962" y="0"/>
                  <a:pt x="281728" y="12766"/>
                  <a:pt x="281728" y="28514"/>
                </a:cubicBezTo>
                <a:cubicBezTo>
                  <a:pt x="281728" y="44262"/>
                  <a:pt x="268962" y="57028"/>
                  <a:pt x="253214" y="57028"/>
                </a:cubicBezTo>
                <a:cubicBezTo>
                  <a:pt x="237466" y="57028"/>
                  <a:pt x="224700" y="44262"/>
                  <a:pt x="224700" y="28514"/>
                </a:cubicBezTo>
                <a:cubicBezTo>
                  <a:pt x="224700" y="12766"/>
                  <a:pt x="237466" y="0"/>
                  <a:pt x="253214" y="0"/>
                </a:cubicBezTo>
                <a:close/>
                <a:moveTo>
                  <a:pt x="140864" y="0"/>
                </a:moveTo>
                <a:cubicBezTo>
                  <a:pt x="156612" y="0"/>
                  <a:pt x="169378" y="12766"/>
                  <a:pt x="169378" y="28514"/>
                </a:cubicBezTo>
                <a:cubicBezTo>
                  <a:pt x="169378" y="44262"/>
                  <a:pt x="156612" y="57028"/>
                  <a:pt x="140864" y="57028"/>
                </a:cubicBezTo>
                <a:cubicBezTo>
                  <a:pt x="125116" y="57028"/>
                  <a:pt x="112350" y="44262"/>
                  <a:pt x="112350" y="28514"/>
                </a:cubicBezTo>
                <a:cubicBezTo>
                  <a:pt x="112350" y="12766"/>
                  <a:pt x="125116" y="0"/>
                  <a:pt x="140864" y="0"/>
                </a:cubicBezTo>
                <a:close/>
                <a:moveTo>
                  <a:pt x="28514" y="0"/>
                </a:moveTo>
                <a:cubicBezTo>
                  <a:pt x="44262" y="0"/>
                  <a:pt x="57028" y="12766"/>
                  <a:pt x="57028" y="28514"/>
                </a:cubicBezTo>
                <a:cubicBezTo>
                  <a:pt x="57028" y="44262"/>
                  <a:pt x="44262" y="57028"/>
                  <a:pt x="28514" y="57028"/>
                </a:cubicBezTo>
                <a:cubicBezTo>
                  <a:pt x="12766" y="57028"/>
                  <a:pt x="0" y="44262"/>
                  <a:pt x="0" y="28514"/>
                </a:cubicBezTo>
                <a:cubicBezTo>
                  <a:pt x="0" y="12766"/>
                  <a:pt x="12766" y="0"/>
                  <a:pt x="28514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6961597" y="6614240"/>
            <a:ext cx="618780" cy="57028"/>
          </a:xfrm>
          <a:custGeom>
            <a:avLst/>
            <a:gdLst>
              <a:gd name="connsiteX0" fmla="*/ 590266 w 618780"/>
              <a:gd name="connsiteY0" fmla="*/ 0 h 57028"/>
              <a:gd name="connsiteX1" fmla="*/ 618780 w 618780"/>
              <a:gd name="connsiteY1" fmla="*/ 28514 h 57028"/>
              <a:gd name="connsiteX2" fmla="*/ 590266 w 618780"/>
              <a:gd name="connsiteY2" fmla="*/ 57028 h 57028"/>
              <a:gd name="connsiteX3" fmla="*/ 561752 w 618780"/>
              <a:gd name="connsiteY3" fmla="*/ 28514 h 57028"/>
              <a:gd name="connsiteX4" fmla="*/ 590266 w 618780"/>
              <a:gd name="connsiteY4" fmla="*/ 0 h 57028"/>
              <a:gd name="connsiteX5" fmla="*/ 477914 w 618780"/>
              <a:gd name="connsiteY5" fmla="*/ 0 h 57028"/>
              <a:gd name="connsiteX6" fmla="*/ 506428 w 618780"/>
              <a:gd name="connsiteY6" fmla="*/ 28514 h 57028"/>
              <a:gd name="connsiteX7" fmla="*/ 477914 w 618780"/>
              <a:gd name="connsiteY7" fmla="*/ 57028 h 57028"/>
              <a:gd name="connsiteX8" fmla="*/ 449400 w 618780"/>
              <a:gd name="connsiteY8" fmla="*/ 28514 h 57028"/>
              <a:gd name="connsiteX9" fmla="*/ 477914 w 618780"/>
              <a:gd name="connsiteY9" fmla="*/ 0 h 57028"/>
              <a:gd name="connsiteX10" fmla="*/ 365564 w 618780"/>
              <a:gd name="connsiteY10" fmla="*/ 0 h 57028"/>
              <a:gd name="connsiteX11" fmla="*/ 394078 w 618780"/>
              <a:gd name="connsiteY11" fmla="*/ 28514 h 57028"/>
              <a:gd name="connsiteX12" fmla="*/ 365564 w 618780"/>
              <a:gd name="connsiteY12" fmla="*/ 57028 h 57028"/>
              <a:gd name="connsiteX13" fmla="*/ 337050 w 618780"/>
              <a:gd name="connsiteY13" fmla="*/ 28514 h 57028"/>
              <a:gd name="connsiteX14" fmla="*/ 365564 w 618780"/>
              <a:gd name="connsiteY14" fmla="*/ 0 h 57028"/>
              <a:gd name="connsiteX15" fmla="*/ 253214 w 618780"/>
              <a:gd name="connsiteY15" fmla="*/ 0 h 57028"/>
              <a:gd name="connsiteX16" fmla="*/ 281728 w 618780"/>
              <a:gd name="connsiteY16" fmla="*/ 28514 h 57028"/>
              <a:gd name="connsiteX17" fmla="*/ 253214 w 618780"/>
              <a:gd name="connsiteY17" fmla="*/ 57028 h 57028"/>
              <a:gd name="connsiteX18" fmla="*/ 224700 w 618780"/>
              <a:gd name="connsiteY18" fmla="*/ 28514 h 57028"/>
              <a:gd name="connsiteX19" fmla="*/ 253214 w 618780"/>
              <a:gd name="connsiteY19" fmla="*/ 0 h 57028"/>
              <a:gd name="connsiteX20" fmla="*/ 140864 w 618780"/>
              <a:gd name="connsiteY20" fmla="*/ 0 h 57028"/>
              <a:gd name="connsiteX21" fmla="*/ 169378 w 618780"/>
              <a:gd name="connsiteY21" fmla="*/ 28514 h 57028"/>
              <a:gd name="connsiteX22" fmla="*/ 140864 w 618780"/>
              <a:gd name="connsiteY22" fmla="*/ 57028 h 57028"/>
              <a:gd name="connsiteX23" fmla="*/ 112350 w 618780"/>
              <a:gd name="connsiteY23" fmla="*/ 28514 h 57028"/>
              <a:gd name="connsiteX24" fmla="*/ 140864 w 618780"/>
              <a:gd name="connsiteY24" fmla="*/ 0 h 57028"/>
              <a:gd name="connsiteX25" fmla="*/ 28514 w 618780"/>
              <a:gd name="connsiteY25" fmla="*/ 0 h 57028"/>
              <a:gd name="connsiteX26" fmla="*/ 57028 w 618780"/>
              <a:gd name="connsiteY26" fmla="*/ 28514 h 57028"/>
              <a:gd name="connsiteX27" fmla="*/ 28514 w 618780"/>
              <a:gd name="connsiteY27" fmla="*/ 57028 h 57028"/>
              <a:gd name="connsiteX28" fmla="*/ 0 w 618780"/>
              <a:gd name="connsiteY28" fmla="*/ 28514 h 57028"/>
              <a:gd name="connsiteX29" fmla="*/ 28514 w 618780"/>
              <a:gd name="connsiteY29" fmla="*/ 0 h 57028"/>
            </a:gdLst>
            <a:ahLst/>
            <a:cxnLst/>
            <a:rect l="l" t="t" r="r" b="b"/>
            <a:pathLst>
              <a:path w="618780" h="57028">
                <a:moveTo>
                  <a:pt x="590266" y="0"/>
                </a:moveTo>
                <a:cubicBezTo>
                  <a:pt x="606014" y="0"/>
                  <a:pt x="618780" y="12766"/>
                  <a:pt x="618780" y="28514"/>
                </a:cubicBezTo>
                <a:cubicBezTo>
                  <a:pt x="618780" y="44262"/>
                  <a:pt x="606014" y="57028"/>
                  <a:pt x="590266" y="57028"/>
                </a:cubicBezTo>
                <a:cubicBezTo>
                  <a:pt x="574518" y="57028"/>
                  <a:pt x="561752" y="44262"/>
                  <a:pt x="561752" y="28514"/>
                </a:cubicBezTo>
                <a:cubicBezTo>
                  <a:pt x="561752" y="12766"/>
                  <a:pt x="574518" y="0"/>
                  <a:pt x="590266" y="0"/>
                </a:cubicBezTo>
                <a:close/>
                <a:moveTo>
                  <a:pt x="477914" y="0"/>
                </a:moveTo>
                <a:cubicBezTo>
                  <a:pt x="493662" y="0"/>
                  <a:pt x="506428" y="12766"/>
                  <a:pt x="506428" y="28514"/>
                </a:cubicBezTo>
                <a:cubicBezTo>
                  <a:pt x="506428" y="44262"/>
                  <a:pt x="493662" y="57028"/>
                  <a:pt x="477914" y="57028"/>
                </a:cubicBezTo>
                <a:cubicBezTo>
                  <a:pt x="462166" y="57028"/>
                  <a:pt x="449400" y="44262"/>
                  <a:pt x="449400" y="28514"/>
                </a:cubicBezTo>
                <a:cubicBezTo>
                  <a:pt x="449400" y="12766"/>
                  <a:pt x="462166" y="0"/>
                  <a:pt x="477914" y="0"/>
                </a:cubicBezTo>
                <a:close/>
                <a:moveTo>
                  <a:pt x="365564" y="0"/>
                </a:moveTo>
                <a:cubicBezTo>
                  <a:pt x="381312" y="0"/>
                  <a:pt x="394078" y="12766"/>
                  <a:pt x="394078" y="28514"/>
                </a:cubicBezTo>
                <a:cubicBezTo>
                  <a:pt x="394078" y="44262"/>
                  <a:pt x="381312" y="57028"/>
                  <a:pt x="365564" y="57028"/>
                </a:cubicBezTo>
                <a:cubicBezTo>
                  <a:pt x="349816" y="57028"/>
                  <a:pt x="337050" y="44262"/>
                  <a:pt x="337050" y="28514"/>
                </a:cubicBezTo>
                <a:cubicBezTo>
                  <a:pt x="337050" y="12766"/>
                  <a:pt x="349816" y="0"/>
                  <a:pt x="365564" y="0"/>
                </a:cubicBezTo>
                <a:close/>
                <a:moveTo>
                  <a:pt x="253214" y="0"/>
                </a:moveTo>
                <a:cubicBezTo>
                  <a:pt x="268962" y="0"/>
                  <a:pt x="281728" y="12766"/>
                  <a:pt x="281728" y="28514"/>
                </a:cubicBezTo>
                <a:cubicBezTo>
                  <a:pt x="281728" y="44262"/>
                  <a:pt x="268962" y="57028"/>
                  <a:pt x="253214" y="57028"/>
                </a:cubicBezTo>
                <a:cubicBezTo>
                  <a:pt x="237466" y="57028"/>
                  <a:pt x="224700" y="44262"/>
                  <a:pt x="224700" y="28514"/>
                </a:cubicBezTo>
                <a:cubicBezTo>
                  <a:pt x="224700" y="12766"/>
                  <a:pt x="237466" y="0"/>
                  <a:pt x="253214" y="0"/>
                </a:cubicBezTo>
                <a:close/>
                <a:moveTo>
                  <a:pt x="140864" y="0"/>
                </a:moveTo>
                <a:cubicBezTo>
                  <a:pt x="156612" y="0"/>
                  <a:pt x="169378" y="12766"/>
                  <a:pt x="169378" y="28514"/>
                </a:cubicBezTo>
                <a:cubicBezTo>
                  <a:pt x="169378" y="44262"/>
                  <a:pt x="156612" y="57028"/>
                  <a:pt x="140864" y="57028"/>
                </a:cubicBezTo>
                <a:cubicBezTo>
                  <a:pt x="125116" y="57028"/>
                  <a:pt x="112350" y="44262"/>
                  <a:pt x="112350" y="28514"/>
                </a:cubicBezTo>
                <a:cubicBezTo>
                  <a:pt x="112350" y="12766"/>
                  <a:pt x="125116" y="0"/>
                  <a:pt x="140864" y="0"/>
                </a:cubicBezTo>
                <a:close/>
                <a:moveTo>
                  <a:pt x="28514" y="0"/>
                </a:moveTo>
                <a:cubicBezTo>
                  <a:pt x="44262" y="0"/>
                  <a:pt x="57028" y="12766"/>
                  <a:pt x="57028" y="28514"/>
                </a:cubicBezTo>
                <a:cubicBezTo>
                  <a:pt x="57028" y="44262"/>
                  <a:pt x="44262" y="57028"/>
                  <a:pt x="28514" y="57028"/>
                </a:cubicBezTo>
                <a:cubicBezTo>
                  <a:pt x="12766" y="57028"/>
                  <a:pt x="0" y="44262"/>
                  <a:pt x="0" y="28514"/>
                </a:cubicBezTo>
                <a:cubicBezTo>
                  <a:pt x="0" y="12766"/>
                  <a:pt x="12766" y="0"/>
                  <a:pt x="28514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183" r="1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11501187" y="502429"/>
            <a:ext cx="162092" cy="125321"/>
          </a:xfrm>
          <a:custGeom>
            <a:avLst/>
            <a:gdLst>
              <a:gd name="connsiteX0" fmla="*/ 9855 w 162092"/>
              <a:gd name="connsiteY0" fmla="*/ 105905 h 125321"/>
              <a:gd name="connsiteX1" fmla="*/ 152826 w 162092"/>
              <a:gd name="connsiteY1" fmla="*/ 105905 h 125321"/>
              <a:gd name="connsiteX2" fmla="*/ 152826 w 162092"/>
              <a:gd name="connsiteY2" fmla="*/ 125321 h 125321"/>
              <a:gd name="connsiteX3" fmla="*/ 9855 w 162092"/>
              <a:gd name="connsiteY3" fmla="*/ 125321 h 125321"/>
              <a:gd name="connsiteX4" fmla="*/ 9855 w 162092"/>
              <a:gd name="connsiteY4" fmla="*/ 105905 h 125321"/>
              <a:gd name="connsiteX5" fmla="*/ 9855 w 162092"/>
              <a:gd name="connsiteY5" fmla="*/ 52952 h 125321"/>
              <a:gd name="connsiteX6" fmla="*/ 116936 w 162092"/>
              <a:gd name="connsiteY6" fmla="*/ 52952 h 125321"/>
              <a:gd name="connsiteX7" fmla="*/ 116936 w 162092"/>
              <a:gd name="connsiteY7" fmla="*/ 72368 h 125321"/>
              <a:gd name="connsiteX8" fmla="*/ 9855 w 162092"/>
              <a:gd name="connsiteY8" fmla="*/ 72368 h 125321"/>
              <a:gd name="connsiteX9" fmla="*/ 9855 w 162092"/>
              <a:gd name="connsiteY9" fmla="*/ 52952 h 125321"/>
              <a:gd name="connsiteX10" fmla="*/ 9267 w 162092"/>
              <a:gd name="connsiteY10" fmla="*/ 0 h 125321"/>
              <a:gd name="connsiteX11" fmla="*/ 152238 w 162092"/>
              <a:gd name="connsiteY11" fmla="*/ 0 h 125321"/>
              <a:gd name="connsiteX12" fmla="*/ 152238 w 162092"/>
              <a:gd name="connsiteY12" fmla="*/ 19416 h 125321"/>
              <a:gd name="connsiteX13" fmla="*/ 9267 w 162092"/>
              <a:gd name="connsiteY13" fmla="*/ 19416 h 125321"/>
              <a:gd name="connsiteX14" fmla="*/ 9267 w 162092"/>
              <a:gd name="connsiteY14" fmla="*/ 0 h 125321"/>
            </a:gdLst>
            <a:ahLst/>
            <a:cxnLst/>
            <a:rect l="l" t="t" r="r" b="b"/>
            <a:pathLst>
              <a:path w="162092" h="125321">
                <a:moveTo>
                  <a:pt x="9855" y="105905"/>
                </a:moveTo>
                <a:lnTo>
                  <a:pt x="152826" y="105905"/>
                </a:lnTo>
                <a:cubicBezTo>
                  <a:pt x="165181" y="105905"/>
                  <a:pt x="165181" y="125321"/>
                  <a:pt x="152826" y="125321"/>
                </a:cubicBezTo>
                <a:lnTo>
                  <a:pt x="9855" y="125321"/>
                </a:lnTo>
                <a:cubicBezTo>
                  <a:pt x="-2501" y="125321"/>
                  <a:pt x="-2501" y="105905"/>
                  <a:pt x="9855" y="105905"/>
                </a:cubicBezTo>
                <a:close/>
                <a:moveTo>
                  <a:pt x="9855" y="52952"/>
                </a:moveTo>
                <a:lnTo>
                  <a:pt x="116936" y="52952"/>
                </a:lnTo>
                <a:cubicBezTo>
                  <a:pt x="129292" y="52952"/>
                  <a:pt x="129292" y="72368"/>
                  <a:pt x="116936" y="72368"/>
                </a:cubicBezTo>
                <a:lnTo>
                  <a:pt x="9855" y="72368"/>
                </a:lnTo>
                <a:cubicBezTo>
                  <a:pt x="-2501" y="72368"/>
                  <a:pt x="-2501" y="52952"/>
                  <a:pt x="9855" y="52952"/>
                </a:cubicBezTo>
                <a:close/>
                <a:moveTo>
                  <a:pt x="9267" y="0"/>
                </a:moveTo>
                <a:lnTo>
                  <a:pt x="152238" y="0"/>
                </a:lnTo>
                <a:cubicBezTo>
                  <a:pt x="164593" y="0"/>
                  <a:pt x="164593" y="19416"/>
                  <a:pt x="152238" y="19416"/>
                </a:cubicBezTo>
                <a:lnTo>
                  <a:pt x="9267" y="19416"/>
                </a:lnTo>
                <a:cubicBezTo>
                  <a:pt x="-3089" y="19416"/>
                  <a:pt x="-3089" y="0"/>
                  <a:pt x="9267" y="0"/>
                </a:cubicBezTo>
                <a:close/>
              </a:path>
            </a:pathLst>
          </a:custGeom>
          <a:solidFill>
            <a:schemeClr val="bg1"/>
          </a:solidFill>
          <a:ln w="5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152430" y="500202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071164" y="1495017"/>
            <a:ext cx="1970010" cy="1584941"/>
          </a:xfrm>
          <a:prstGeom prst="hexagon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6963" y="8883872"/>
            <a:ext cx="3863339" cy="45859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44298" y="3554616"/>
            <a:ext cx="5937760" cy="245625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0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Real-World Example: Remote Internship Onboarding Challenges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44298" y="2059907"/>
            <a:ext cx="2921000" cy="11016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72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011802" y="-338156"/>
            <a:ext cx="1947251" cy="3429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8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标题 1"/>
          <p:cNvCxnSpPr/>
          <p:nvPr/>
        </p:nvCxnSpPr>
        <p:spPr>
          <a:xfrm>
            <a:off x="2050828" y="2133137"/>
            <a:ext cx="6708254" cy="1"/>
          </a:xfrm>
          <a:prstGeom prst="line">
            <a:avLst/>
          </a:prstGeom>
          <a:noFill/>
          <a:ln w="25400" cap="sq">
            <a:solidFill>
              <a:schemeClr val="tx2">
                <a:alpha val="10000"/>
              </a:schemeClr>
            </a:solidFill>
            <a:miter/>
          </a:ln>
        </p:spPr>
      </p:cxnSp>
      <p:sp>
        <p:nvSpPr>
          <p:cNvPr id="4" name="标题 1"/>
          <p:cNvSpPr txBox="1"/>
          <p:nvPr/>
        </p:nvSpPr>
        <p:spPr>
          <a:xfrm>
            <a:off x="1981341" y="2084616"/>
            <a:ext cx="97043" cy="97043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5343113" y="2084616"/>
            <a:ext cx="97043" cy="97043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720515" y="2084616"/>
            <a:ext cx="97043" cy="97043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88900" dist="38100" dir="5400000" algn="t" rotWithShape="0">
              <a:srgbClr val="000000">
                <a:alpha val="11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659246" y="2364865"/>
            <a:ext cx="2589153" cy="2907149"/>
          </a:xfrm>
          <a:custGeom>
            <a:avLst/>
            <a:gdLst>
              <a:gd name="connsiteX0" fmla="*/ 0 w 2589153"/>
              <a:gd name="connsiteY0" fmla="*/ 142012 h 2907149"/>
              <a:gd name="connsiteX1" fmla="*/ 2589153 w 2589153"/>
              <a:gd name="connsiteY1" fmla="*/ 142012 h 2907149"/>
              <a:gd name="connsiteX2" fmla="*/ 2589153 w 2589153"/>
              <a:gd name="connsiteY2" fmla="*/ 2907149 h 2907149"/>
              <a:gd name="connsiteX3" fmla="*/ 0 w 2589153"/>
              <a:gd name="connsiteY3" fmla="*/ 2907149 h 2907149"/>
              <a:gd name="connsiteX4" fmla="*/ 369152 w 2589153"/>
              <a:gd name="connsiteY4" fmla="*/ 0 h 2907149"/>
              <a:gd name="connsiteX5" fmla="*/ 496088 w 2589153"/>
              <a:gd name="connsiteY5" fmla="*/ 142009 h 2907149"/>
              <a:gd name="connsiteX6" fmla="*/ 242216 w 2589153"/>
              <a:gd name="connsiteY6" fmla="*/ 142009 h 2907149"/>
            </a:gdLst>
            <a:ahLst/>
            <a:cxnLst/>
            <a:rect l="l" t="t" r="r" b="b"/>
            <a:pathLst>
              <a:path w="2589153" h="2907149">
                <a:moveTo>
                  <a:pt x="0" y="142012"/>
                </a:moveTo>
                <a:lnTo>
                  <a:pt x="2589153" y="142012"/>
                </a:lnTo>
                <a:lnTo>
                  <a:pt x="2589153" y="2907149"/>
                </a:lnTo>
                <a:lnTo>
                  <a:pt x="0" y="2907149"/>
                </a:lnTo>
                <a:close/>
                <a:moveTo>
                  <a:pt x="369152" y="0"/>
                </a:moveTo>
                <a:lnTo>
                  <a:pt x="496088" y="142009"/>
                </a:lnTo>
                <a:lnTo>
                  <a:pt x="242216" y="142009"/>
                </a:lnTo>
                <a:close/>
              </a:path>
            </a:pathLst>
          </a:custGeom>
          <a:solidFill>
            <a:schemeClr val="bg2"/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74320" tIns="0" rIns="91440" bIns="365760" rtlCol="0" anchor="b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5027676" y="2364865"/>
            <a:ext cx="2589153" cy="2907149"/>
          </a:xfrm>
          <a:custGeom>
            <a:avLst/>
            <a:gdLst>
              <a:gd name="connsiteX0" fmla="*/ 0 w 2589153"/>
              <a:gd name="connsiteY0" fmla="*/ 142012 h 2907149"/>
              <a:gd name="connsiteX1" fmla="*/ 2589153 w 2589153"/>
              <a:gd name="connsiteY1" fmla="*/ 142012 h 2907149"/>
              <a:gd name="connsiteX2" fmla="*/ 2589153 w 2589153"/>
              <a:gd name="connsiteY2" fmla="*/ 2907149 h 2907149"/>
              <a:gd name="connsiteX3" fmla="*/ 0 w 2589153"/>
              <a:gd name="connsiteY3" fmla="*/ 2907149 h 2907149"/>
              <a:gd name="connsiteX4" fmla="*/ 369152 w 2589153"/>
              <a:gd name="connsiteY4" fmla="*/ 0 h 2907149"/>
              <a:gd name="connsiteX5" fmla="*/ 496088 w 2589153"/>
              <a:gd name="connsiteY5" fmla="*/ 142009 h 2907149"/>
              <a:gd name="connsiteX6" fmla="*/ 242216 w 2589153"/>
              <a:gd name="connsiteY6" fmla="*/ 142009 h 2907149"/>
            </a:gdLst>
            <a:ahLst/>
            <a:cxnLst/>
            <a:rect l="l" t="t" r="r" b="b"/>
            <a:pathLst>
              <a:path w="2589153" h="2907149">
                <a:moveTo>
                  <a:pt x="0" y="142012"/>
                </a:moveTo>
                <a:lnTo>
                  <a:pt x="2589153" y="142012"/>
                </a:lnTo>
                <a:lnTo>
                  <a:pt x="2589153" y="2907149"/>
                </a:lnTo>
                <a:lnTo>
                  <a:pt x="0" y="2907149"/>
                </a:lnTo>
                <a:close/>
                <a:moveTo>
                  <a:pt x="369152" y="0"/>
                </a:moveTo>
                <a:lnTo>
                  <a:pt x="496088" y="142009"/>
                </a:lnTo>
                <a:lnTo>
                  <a:pt x="242216" y="142009"/>
                </a:lnTo>
                <a:close/>
              </a:path>
            </a:pathLst>
          </a:custGeom>
          <a:solidFill>
            <a:schemeClr val="bg2"/>
          </a:solidFill>
          <a:ln w="12700" cap="sq">
            <a:noFill/>
            <a:miter/>
          </a:ln>
          <a:effectLst>
            <a:outerShdw blurRad="38100" dist="127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274320" tIns="0" rIns="91440" bIns="365760" rtlCol="0" anchor="b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396106" y="2364865"/>
            <a:ext cx="2589153" cy="2907149"/>
          </a:xfrm>
          <a:custGeom>
            <a:avLst/>
            <a:gdLst>
              <a:gd name="connsiteX0" fmla="*/ 0 w 2589153"/>
              <a:gd name="connsiteY0" fmla="*/ 142012 h 2907149"/>
              <a:gd name="connsiteX1" fmla="*/ 2589153 w 2589153"/>
              <a:gd name="connsiteY1" fmla="*/ 142012 h 2907149"/>
              <a:gd name="connsiteX2" fmla="*/ 2589153 w 2589153"/>
              <a:gd name="connsiteY2" fmla="*/ 2907149 h 2907149"/>
              <a:gd name="connsiteX3" fmla="*/ 0 w 2589153"/>
              <a:gd name="connsiteY3" fmla="*/ 2907149 h 2907149"/>
              <a:gd name="connsiteX4" fmla="*/ 369152 w 2589153"/>
              <a:gd name="connsiteY4" fmla="*/ 0 h 2907149"/>
              <a:gd name="connsiteX5" fmla="*/ 496088 w 2589153"/>
              <a:gd name="connsiteY5" fmla="*/ 142009 h 2907149"/>
              <a:gd name="connsiteX6" fmla="*/ 242216 w 2589153"/>
              <a:gd name="connsiteY6" fmla="*/ 142009 h 2907149"/>
            </a:gdLst>
            <a:ahLst/>
            <a:cxnLst/>
            <a:rect l="l" t="t" r="r" b="b"/>
            <a:pathLst>
              <a:path w="2589153" h="2907149">
                <a:moveTo>
                  <a:pt x="0" y="142012"/>
                </a:moveTo>
                <a:lnTo>
                  <a:pt x="2589153" y="142012"/>
                </a:lnTo>
                <a:lnTo>
                  <a:pt x="2589153" y="2907149"/>
                </a:lnTo>
                <a:lnTo>
                  <a:pt x="0" y="2907149"/>
                </a:lnTo>
                <a:close/>
                <a:moveTo>
                  <a:pt x="369152" y="0"/>
                </a:moveTo>
                <a:lnTo>
                  <a:pt x="496088" y="142009"/>
                </a:lnTo>
                <a:lnTo>
                  <a:pt x="242216" y="142009"/>
                </a:ln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>
            <a:outerShdw blurRad="762000" dist="2540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274320" tIns="0" rIns="91440" bIns="365760" rtlCol="0" anchor="b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883365" y="2990344"/>
            <a:ext cx="536912" cy="53691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322895" y="3024617"/>
            <a:ext cx="534980" cy="468367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tx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8689592" y="2982462"/>
            <a:ext cx="597442" cy="552676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38100" tIns="38100" rIns="38100" bIns="3810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883364" y="3755810"/>
            <a:ext cx="222852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Experienced Interns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322894" y="3755810"/>
            <a:ext cx="222852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Newer Interns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689591" y="3755810"/>
            <a:ext cx="2228525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326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Leadership Assumptions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883365" y="4086222"/>
            <a:ext cx="2004385" cy="11334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Completed tasks quickly.
Requested higher- level material aligned to marketing platforms.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322895" y="4086222"/>
            <a:ext cx="2004385" cy="11334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Struggled with jargon- heavy documents.
Faced unclear expectations.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689592" y="4086222"/>
            <a:ext cx="2004385" cy="113347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Assumed the initial plan was universally effective.
Engagement and comprehension were never verified.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Symptoms &amp; Signals</a:t>
            </a:r>
            <a:endParaRPr kumimoji="1" lang="zh-CN" altLang="en-US"/>
          </a:p>
        </p:txBody>
      </p:sp>
      <p:cxnSp>
        <p:nvCxnSpPr>
          <p:cNvPr id="20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1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19EFE6-B7C8-7E72-1B87-05072AF3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2" y="2477940"/>
            <a:ext cx="11597951" cy="31577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61F1CE-05CE-7141-EE2D-3B6E3BF95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772" y="549146"/>
            <a:ext cx="8285182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10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5562350" y="-14061"/>
            <a:ext cx="4517118" cy="6891111"/>
          </a:xfrm>
          <a:custGeom>
            <a:avLst/>
            <a:gdLst>
              <a:gd name="connsiteX0" fmla="*/ 0 w 4517118"/>
              <a:gd name="connsiteY0" fmla="*/ 4536 h 6891111"/>
              <a:gd name="connsiteX1" fmla="*/ 2596696 w 4517118"/>
              <a:gd name="connsiteY1" fmla="*/ 0 h 6891111"/>
              <a:gd name="connsiteX2" fmla="*/ 4517118 w 4517118"/>
              <a:gd name="connsiteY2" fmla="*/ 6872061 h 6891111"/>
              <a:gd name="connsiteX3" fmla="*/ 1924050 w 4517118"/>
              <a:gd name="connsiteY3" fmla="*/ 6891111 h 6891111"/>
              <a:gd name="connsiteX4" fmla="*/ 0 w 4517118"/>
              <a:gd name="connsiteY4" fmla="*/ 4536 h 6891111"/>
            </a:gdLst>
            <a:ahLst/>
            <a:cxnLst/>
            <a:rect l="l" t="t" r="r" b="b"/>
            <a:pathLst>
              <a:path w="4517118" h="6891111">
                <a:moveTo>
                  <a:pt x="0" y="4536"/>
                </a:moveTo>
                <a:lnTo>
                  <a:pt x="2596696" y="0"/>
                </a:lnTo>
                <a:lnTo>
                  <a:pt x="4517118" y="6872061"/>
                </a:lnTo>
                <a:lnTo>
                  <a:pt x="1924050" y="6891111"/>
                </a:lnTo>
                <a:lnTo>
                  <a:pt x="0" y="4536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39332" r="16810"/>
          <a:stretch>
            <a:fillRect/>
          </a:stretch>
        </p:blipFill>
        <p:spPr>
          <a:xfrm flipH="1">
            <a:off x="5891868" y="-5608"/>
            <a:ext cx="4516024" cy="6863608"/>
          </a:xfrm>
          <a:custGeom>
            <a:avLst/>
            <a:gdLst/>
            <a:ahLst/>
            <a:cxnLst/>
            <a:rect l="l" t="t" r="r" b="b"/>
            <a:pathLst>
              <a:path w="4516024" h="6863608">
                <a:moveTo>
                  <a:pt x="0" y="0"/>
                </a:moveTo>
                <a:lnTo>
                  <a:pt x="2597964" y="0"/>
                </a:lnTo>
                <a:lnTo>
                  <a:pt x="4516024" y="6863608"/>
                </a:lnTo>
                <a:lnTo>
                  <a:pt x="1917634" y="6863608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5" name="标题 1"/>
          <p:cNvSpPr txBox="1"/>
          <p:nvPr/>
        </p:nvSpPr>
        <p:spPr>
          <a:xfrm flipH="1">
            <a:off x="8494032" y="-9526"/>
            <a:ext cx="4726668" cy="6867525"/>
          </a:xfrm>
          <a:custGeom>
            <a:avLst/>
            <a:gdLst>
              <a:gd name="connsiteX0" fmla="*/ 0 w 4726668"/>
              <a:gd name="connsiteY0" fmla="*/ 0 h 6867525"/>
              <a:gd name="connsiteX1" fmla="*/ 2825296 w 4726668"/>
              <a:gd name="connsiteY1" fmla="*/ 4989 h 6867525"/>
              <a:gd name="connsiteX2" fmla="*/ 4726668 w 4726668"/>
              <a:gd name="connsiteY2" fmla="*/ 6867525 h 6867525"/>
              <a:gd name="connsiteX3" fmla="*/ 9525 w 4726668"/>
              <a:gd name="connsiteY3" fmla="*/ 6867525 h 6867525"/>
              <a:gd name="connsiteX4" fmla="*/ 0 w 4726668"/>
              <a:gd name="connsiteY4" fmla="*/ 0 h 6867525"/>
            </a:gdLst>
            <a:ahLst/>
            <a:cxnLst/>
            <a:rect l="l" t="t" r="r" b="b"/>
            <a:pathLst>
              <a:path w="4726668" h="6867525">
                <a:moveTo>
                  <a:pt x="0" y="0"/>
                </a:moveTo>
                <a:lnTo>
                  <a:pt x="2825296" y="4989"/>
                </a:lnTo>
                <a:lnTo>
                  <a:pt x="4726668" y="6867525"/>
                </a:lnTo>
                <a:lnTo>
                  <a:pt x="9525" y="6867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544602" y="1461580"/>
            <a:ext cx="4096443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Data Instrumentation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544603" y="1793394"/>
            <a:ext cx="4096443" cy="1137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No quiz scores.
No module completion times.
No time on task.
No pulse surveys.</a:t>
            </a:r>
            <a:endParaRPr kumimoji="1" lang="zh-CN" altLang="en-US"/>
          </a:p>
        </p:txBody>
      </p:sp>
      <p:cxnSp>
        <p:nvCxnSpPr>
          <p:cNvPr id="8" name="标题 1"/>
          <p:cNvCxnSpPr/>
          <p:nvPr/>
        </p:nvCxnSpPr>
        <p:spPr>
          <a:xfrm flipH="1">
            <a:off x="5870227" y="1947260"/>
            <a:ext cx="820469" cy="0"/>
          </a:xfrm>
          <a:prstGeom prst="line">
            <a:avLst/>
          </a:prstGeom>
          <a:noFill/>
          <a:ln w="28575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9" name="标题 1"/>
          <p:cNvSpPr txBox="1"/>
          <p:nvPr/>
        </p:nvSpPr>
        <p:spPr>
          <a:xfrm flipH="1">
            <a:off x="6129363" y="1491198"/>
            <a:ext cx="302196" cy="302196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115477" y="3124055"/>
            <a:ext cx="4096443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Learning Paths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28449" y="3459700"/>
            <a:ext cx="4096443" cy="1137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No branching.
No role- based learning paths to match skill levels and responsibilities.</a:t>
            </a:r>
            <a:endParaRPr kumimoji="1" lang="zh-CN" altLang="en-US"/>
          </a:p>
        </p:txBody>
      </p:sp>
      <p:cxnSp>
        <p:nvCxnSpPr>
          <p:cNvPr id="12" name="标题 1"/>
          <p:cNvCxnSpPr/>
          <p:nvPr/>
        </p:nvCxnSpPr>
        <p:spPr>
          <a:xfrm flipH="1">
            <a:off x="5459992" y="3486659"/>
            <a:ext cx="820469" cy="0"/>
          </a:xfrm>
          <a:prstGeom prst="line">
            <a:avLst/>
          </a:prstGeom>
          <a:noFill/>
          <a:ln w="28575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13" name="标题 1"/>
          <p:cNvSpPr txBox="1"/>
          <p:nvPr/>
        </p:nvSpPr>
        <p:spPr>
          <a:xfrm flipH="1">
            <a:off x="5719128" y="3057722"/>
            <a:ext cx="302196" cy="273975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标题 1"/>
          <p:cNvCxnSpPr/>
          <p:nvPr/>
        </p:nvCxnSpPr>
        <p:spPr>
          <a:xfrm flipH="1">
            <a:off x="4970816" y="5163356"/>
            <a:ext cx="820469" cy="0"/>
          </a:xfrm>
          <a:prstGeom prst="line">
            <a:avLst/>
          </a:prstGeom>
          <a:noFill/>
          <a:ln w="28575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15" name="标题 1"/>
          <p:cNvSpPr txBox="1"/>
          <p:nvPr/>
        </p:nvSpPr>
        <p:spPr>
          <a:xfrm>
            <a:off x="688649" y="4761902"/>
            <a:ext cx="4096443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Iterative Improvement Cycle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88650" y="5097991"/>
            <a:ext cx="4096443" cy="1137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No iterative improvement cycle to refine materials.
No adjustments in delivery mode.
No adjustments in pacing.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>
            <a:off x="5229952" y="4724028"/>
            <a:ext cx="302196" cy="279552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accent1"/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What Was Missing (Adaptive Learning Gaps)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4380006" y="1756610"/>
            <a:ext cx="3252071" cy="3283201"/>
          </a:xfrm>
          <a:custGeom>
            <a:avLst/>
            <a:gdLst>
              <a:gd name="connsiteX0" fmla="*/ 47836 w 3197862"/>
              <a:gd name="connsiteY0" fmla="*/ 0 h 3228473"/>
              <a:gd name="connsiteX1" fmla="*/ 938754 w 3197862"/>
              <a:gd name="connsiteY1" fmla="*/ 0 h 3228473"/>
              <a:gd name="connsiteX2" fmla="*/ 986590 w 3197862"/>
              <a:gd name="connsiteY2" fmla="*/ 47836 h 3228473"/>
              <a:gd name="connsiteX3" fmla="*/ 986590 w 3197862"/>
              <a:gd name="connsiteY3" fmla="*/ 376990 h 3228473"/>
              <a:gd name="connsiteX4" fmla="*/ 3089049 w 3197862"/>
              <a:gd name="connsiteY4" fmla="*/ 376990 h 3228473"/>
              <a:gd name="connsiteX5" fmla="*/ 3197862 w 3197862"/>
              <a:gd name="connsiteY5" fmla="*/ 485803 h 3228473"/>
              <a:gd name="connsiteX6" fmla="*/ 3197862 w 3197862"/>
              <a:gd name="connsiteY6" fmla="*/ 3119660 h 3228473"/>
              <a:gd name="connsiteX7" fmla="*/ 3089049 w 3197862"/>
              <a:gd name="connsiteY7" fmla="*/ 3228473 h 3228473"/>
              <a:gd name="connsiteX8" fmla="*/ 108813 w 3197862"/>
              <a:gd name="connsiteY8" fmla="*/ 3228473 h 3228473"/>
              <a:gd name="connsiteX9" fmla="*/ 0 w 3197862"/>
              <a:gd name="connsiteY9" fmla="*/ 3119660 h 3228473"/>
              <a:gd name="connsiteX10" fmla="*/ 0 w 3197862"/>
              <a:gd name="connsiteY10" fmla="*/ 658017 h 3228473"/>
              <a:gd name="connsiteX11" fmla="*/ 0 w 3197862"/>
              <a:gd name="connsiteY11" fmla="*/ 485803 h 3228473"/>
              <a:gd name="connsiteX12" fmla="*/ 0 w 3197862"/>
              <a:gd name="connsiteY12" fmla="*/ 47836 h 3228473"/>
              <a:gd name="connsiteX13" fmla="*/ 47836 w 3197862"/>
              <a:gd name="connsiteY13" fmla="*/ 0 h 3228473"/>
            </a:gdLst>
            <a:ahLst/>
            <a:cxnLst/>
            <a:rect l="l" t="t" r="r" b="b"/>
            <a:pathLst>
              <a:path w="3197862" h="3228473">
                <a:moveTo>
                  <a:pt x="47836" y="0"/>
                </a:moveTo>
                <a:lnTo>
                  <a:pt x="938754" y="0"/>
                </a:lnTo>
                <a:cubicBezTo>
                  <a:pt x="965173" y="0"/>
                  <a:pt x="986590" y="21417"/>
                  <a:pt x="986590" y="47836"/>
                </a:cubicBezTo>
                <a:lnTo>
                  <a:pt x="986590" y="376990"/>
                </a:lnTo>
                <a:lnTo>
                  <a:pt x="3089049" y="376990"/>
                </a:lnTo>
                <a:cubicBezTo>
                  <a:pt x="3149145" y="376990"/>
                  <a:pt x="3197862" y="425707"/>
                  <a:pt x="3197862" y="485803"/>
                </a:cubicBezTo>
                <a:lnTo>
                  <a:pt x="3197862" y="3119660"/>
                </a:lnTo>
                <a:cubicBezTo>
                  <a:pt x="3197862" y="3179756"/>
                  <a:pt x="3149145" y="3228473"/>
                  <a:pt x="3089049" y="3228473"/>
                </a:cubicBezTo>
                <a:lnTo>
                  <a:pt x="108813" y="3228473"/>
                </a:lnTo>
                <a:cubicBezTo>
                  <a:pt x="48717" y="3228473"/>
                  <a:pt x="0" y="3179756"/>
                  <a:pt x="0" y="3119660"/>
                </a:cubicBezTo>
                <a:lnTo>
                  <a:pt x="0" y="658017"/>
                </a:lnTo>
                <a:lnTo>
                  <a:pt x="0" y="485803"/>
                </a:lnTo>
                <a:lnTo>
                  <a:pt x="0" y="47836"/>
                </a:lnTo>
                <a:cubicBezTo>
                  <a:pt x="0" y="21417"/>
                  <a:pt x="21417" y="0"/>
                  <a:pt x="47836" y="0"/>
                </a:cubicBez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547226" y="2274582"/>
            <a:ext cx="3252071" cy="2899821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2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380003" y="1797300"/>
            <a:ext cx="1003315" cy="4161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099608" y="1756610"/>
            <a:ext cx="3252071" cy="3283201"/>
          </a:xfrm>
          <a:custGeom>
            <a:avLst/>
            <a:gdLst>
              <a:gd name="connsiteX0" fmla="*/ 47836 w 3197862"/>
              <a:gd name="connsiteY0" fmla="*/ 0 h 3228473"/>
              <a:gd name="connsiteX1" fmla="*/ 938754 w 3197862"/>
              <a:gd name="connsiteY1" fmla="*/ 0 h 3228473"/>
              <a:gd name="connsiteX2" fmla="*/ 986590 w 3197862"/>
              <a:gd name="connsiteY2" fmla="*/ 47836 h 3228473"/>
              <a:gd name="connsiteX3" fmla="*/ 986590 w 3197862"/>
              <a:gd name="connsiteY3" fmla="*/ 376990 h 3228473"/>
              <a:gd name="connsiteX4" fmla="*/ 3089049 w 3197862"/>
              <a:gd name="connsiteY4" fmla="*/ 376990 h 3228473"/>
              <a:gd name="connsiteX5" fmla="*/ 3197862 w 3197862"/>
              <a:gd name="connsiteY5" fmla="*/ 485803 h 3228473"/>
              <a:gd name="connsiteX6" fmla="*/ 3197862 w 3197862"/>
              <a:gd name="connsiteY6" fmla="*/ 3119660 h 3228473"/>
              <a:gd name="connsiteX7" fmla="*/ 3089049 w 3197862"/>
              <a:gd name="connsiteY7" fmla="*/ 3228473 h 3228473"/>
              <a:gd name="connsiteX8" fmla="*/ 108813 w 3197862"/>
              <a:gd name="connsiteY8" fmla="*/ 3228473 h 3228473"/>
              <a:gd name="connsiteX9" fmla="*/ 0 w 3197862"/>
              <a:gd name="connsiteY9" fmla="*/ 3119660 h 3228473"/>
              <a:gd name="connsiteX10" fmla="*/ 0 w 3197862"/>
              <a:gd name="connsiteY10" fmla="*/ 658017 h 3228473"/>
              <a:gd name="connsiteX11" fmla="*/ 0 w 3197862"/>
              <a:gd name="connsiteY11" fmla="*/ 485803 h 3228473"/>
              <a:gd name="connsiteX12" fmla="*/ 0 w 3197862"/>
              <a:gd name="connsiteY12" fmla="*/ 47836 h 3228473"/>
              <a:gd name="connsiteX13" fmla="*/ 47836 w 3197862"/>
              <a:gd name="connsiteY13" fmla="*/ 0 h 3228473"/>
            </a:gdLst>
            <a:ahLst/>
            <a:cxnLst/>
            <a:rect l="l" t="t" r="r" b="b"/>
            <a:pathLst>
              <a:path w="3197862" h="3228473">
                <a:moveTo>
                  <a:pt x="47836" y="0"/>
                </a:moveTo>
                <a:lnTo>
                  <a:pt x="938754" y="0"/>
                </a:lnTo>
                <a:cubicBezTo>
                  <a:pt x="965173" y="0"/>
                  <a:pt x="986590" y="21417"/>
                  <a:pt x="986590" y="47836"/>
                </a:cubicBezTo>
                <a:lnTo>
                  <a:pt x="986590" y="376990"/>
                </a:lnTo>
                <a:lnTo>
                  <a:pt x="3089049" y="376990"/>
                </a:lnTo>
                <a:cubicBezTo>
                  <a:pt x="3149145" y="376990"/>
                  <a:pt x="3197862" y="425707"/>
                  <a:pt x="3197862" y="485803"/>
                </a:cubicBezTo>
                <a:lnTo>
                  <a:pt x="3197862" y="3119660"/>
                </a:lnTo>
                <a:cubicBezTo>
                  <a:pt x="3197862" y="3179756"/>
                  <a:pt x="3149145" y="3228473"/>
                  <a:pt x="3089049" y="3228473"/>
                </a:cubicBezTo>
                <a:lnTo>
                  <a:pt x="108813" y="3228473"/>
                </a:lnTo>
                <a:cubicBezTo>
                  <a:pt x="48717" y="3228473"/>
                  <a:pt x="0" y="3179756"/>
                  <a:pt x="0" y="3119660"/>
                </a:cubicBezTo>
                <a:lnTo>
                  <a:pt x="0" y="658017"/>
                </a:lnTo>
                <a:lnTo>
                  <a:pt x="0" y="485803"/>
                </a:lnTo>
                <a:lnTo>
                  <a:pt x="0" y="47836"/>
                </a:lnTo>
                <a:cubicBezTo>
                  <a:pt x="0" y="21417"/>
                  <a:pt x="21417" y="0"/>
                  <a:pt x="47836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8266829" y="2274582"/>
            <a:ext cx="3252071" cy="2899821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099605" y="1797300"/>
            <a:ext cx="1003315" cy="4161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403" y="1756610"/>
            <a:ext cx="3252071" cy="3283201"/>
          </a:xfrm>
          <a:custGeom>
            <a:avLst/>
            <a:gdLst>
              <a:gd name="connsiteX0" fmla="*/ 47836 w 3197862"/>
              <a:gd name="connsiteY0" fmla="*/ 0 h 3228473"/>
              <a:gd name="connsiteX1" fmla="*/ 938754 w 3197862"/>
              <a:gd name="connsiteY1" fmla="*/ 0 h 3228473"/>
              <a:gd name="connsiteX2" fmla="*/ 986590 w 3197862"/>
              <a:gd name="connsiteY2" fmla="*/ 47836 h 3228473"/>
              <a:gd name="connsiteX3" fmla="*/ 986590 w 3197862"/>
              <a:gd name="connsiteY3" fmla="*/ 376990 h 3228473"/>
              <a:gd name="connsiteX4" fmla="*/ 3089049 w 3197862"/>
              <a:gd name="connsiteY4" fmla="*/ 376990 h 3228473"/>
              <a:gd name="connsiteX5" fmla="*/ 3197862 w 3197862"/>
              <a:gd name="connsiteY5" fmla="*/ 485803 h 3228473"/>
              <a:gd name="connsiteX6" fmla="*/ 3197862 w 3197862"/>
              <a:gd name="connsiteY6" fmla="*/ 3119660 h 3228473"/>
              <a:gd name="connsiteX7" fmla="*/ 3089049 w 3197862"/>
              <a:gd name="connsiteY7" fmla="*/ 3228473 h 3228473"/>
              <a:gd name="connsiteX8" fmla="*/ 108813 w 3197862"/>
              <a:gd name="connsiteY8" fmla="*/ 3228473 h 3228473"/>
              <a:gd name="connsiteX9" fmla="*/ 0 w 3197862"/>
              <a:gd name="connsiteY9" fmla="*/ 3119660 h 3228473"/>
              <a:gd name="connsiteX10" fmla="*/ 0 w 3197862"/>
              <a:gd name="connsiteY10" fmla="*/ 658017 h 3228473"/>
              <a:gd name="connsiteX11" fmla="*/ 0 w 3197862"/>
              <a:gd name="connsiteY11" fmla="*/ 485803 h 3228473"/>
              <a:gd name="connsiteX12" fmla="*/ 0 w 3197862"/>
              <a:gd name="connsiteY12" fmla="*/ 47836 h 3228473"/>
              <a:gd name="connsiteX13" fmla="*/ 47836 w 3197862"/>
              <a:gd name="connsiteY13" fmla="*/ 0 h 3228473"/>
            </a:gdLst>
            <a:ahLst/>
            <a:cxnLst/>
            <a:rect l="l" t="t" r="r" b="b"/>
            <a:pathLst>
              <a:path w="3197862" h="3228473">
                <a:moveTo>
                  <a:pt x="47836" y="0"/>
                </a:moveTo>
                <a:lnTo>
                  <a:pt x="938754" y="0"/>
                </a:lnTo>
                <a:cubicBezTo>
                  <a:pt x="965173" y="0"/>
                  <a:pt x="986590" y="21417"/>
                  <a:pt x="986590" y="47836"/>
                </a:cubicBezTo>
                <a:lnTo>
                  <a:pt x="986590" y="376990"/>
                </a:lnTo>
                <a:lnTo>
                  <a:pt x="3089049" y="376990"/>
                </a:lnTo>
                <a:cubicBezTo>
                  <a:pt x="3149145" y="376990"/>
                  <a:pt x="3197862" y="425707"/>
                  <a:pt x="3197862" y="485803"/>
                </a:cubicBezTo>
                <a:lnTo>
                  <a:pt x="3197862" y="3119660"/>
                </a:lnTo>
                <a:cubicBezTo>
                  <a:pt x="3197862" y="3179756"/>
                  <a:pt x="3149145" y="3228473"/>
                  <a:pt x="3089049" y="3228473"/>
                </a:cubicBezTo>
                <a:lnTo>
                  <a:pt x="108813" y="3228473"/>
                </a:lnTo>
                <a:cubicBezTo>
                  <a:pt x="48717" y="3228473"/>
                  <a:pt x="0" y="3179756"/>
                  <a:pt x="0" y="3119660"/>
                </a:cubicBezTo>
                <a:lnTo>
                  <a:pt x="0" y="658017"/>
                </a:lnTo>
                <a:lnTo>
                  <a:pt x="0" y="485803"/>
                </a:lnTo>
                <a:lnTo>
                  <a:pt x="0" y="47836"/>
                </a:lnTo>
                <a:cubicBezTo>
                  <a:pt x="0" y="21417"/>
                  <a:pt x="21417" y="0"/>
                  <a:pt x="47836" y="0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827623" y="2274582"/>
            <a:ext cx="3252071" cy="2899821"/>
          </a:xfrm>
          <a:prstGeom prst="roundRect">
            <a:avLst>
              <a:gd name="adj" fmla="val 3278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60400" y="1797300"/>
            <a:ext cx="1003315" cy="416197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2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979235" y="3249764"/>
            <a:ext cx="2948849" cy="145935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Track quiz scores.
Track time- on- module.
Track completion rates.
Collect feedback.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979236" y="2491490"/>
            <a:ext cx="2948848" cy="67657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Tracking Performance and Engagement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698837" y="3249764"/>
            <a:ext cx="2948849" cy="145935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Personalize content by role and proficiency.
Provide microlearning refreshers.
Offer office hours.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698837" y="2491490"/>
            <a:ext cx="2948848" cy="67657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9B37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Personalizing Content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8418440" y="3249764"/>
            <a:ext cx="2948849" cy="145935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Run cohort clinics.
Address common sticking points.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418441" y="2491490"/>
            <a:ext cx="2948848" cy="676571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Adjusting Rollout Cadence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Adaptive Fix (What Good Looks Like)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183" r="1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11501187" y="502429"/>
            <a:ext cx="162092" cy="125321"/>
          </a:xfrm>
          <a:custGeom>
            <a:avLst/>
            <a:gdLst>
              <a:gd name="connsiteX0" fmla="*/ 9855 w 162092"/>
              <a:gd name="connsiteY0" fmla="*/ 105905 h 125321"/>
              <a:gd name="connsiteX1" fmla="*/ 152826 w 162092"/>
              <a:gd name="connsiteY1" fmla="*/ 105905 h 125321"/>
              <a:gd name="connsiteX2" fmla="*/ 152826 w 162092"/>
              <a:gd name="connsiteY2" fmla="*/ 125321 h 125321"/>
              <a:gd name="connsiteX3" fmla="*/ 9855 w 162092"/>
              <a:gd name="connsiteY3" fmla="*/ 125321 h 125321"/>
              <a:gd name="connsiteX4" fmla="*/ 9855 w 162092"/>
              <a:gd name="connsiteY4" fmla="*/ 105905 h 125321"/>
              <a:gd name="connsiteX5" fmla="*/ 9855 w 162092"/>
              <a:gd name="connsiteY5" fmla="*/ 52952 h 125321"/>
              <a:gd name="connsiteX6" fmla="*/ 116936 w 162092"/>
              <a:gd name="connsiteY6" fmla="*/ 52952 h 125321"/>
              <a:gd name="connsiteX7" fmla="*/ 116936 w 162092"/>
              <a:gd name="connsiteY7" fmla="*/ 72368 h 125321"/>
              <a:gd name="connsiteX8" fmla="*/ 9855 w 162092"/>
              <a:gd name="connsiteY8" fmla="*/ 72368 h 125321"/>
              <a:gd name="connsiteX9" fmla="*/ 9855 w 162092"/>
              <a:gd name="connsiteY9" fmla="*/ 52952 h 125321"/>
              <a:gd name="connsiteX10" fmla="*/ 9267 w 162092"/>
              <a:gd name="connsiteY10" fmla="*/ 0 h 125321"/>
              <a:gd name="connsiteX11" fmla="*/ 152238 w 162092"/>
              <a:gd name="connsiteY11" fmla="*/ 0 h 125321"/>
              <a:gd name="connsiteX12" fmla="*/ 152238 w 162092"/>
              <a:gd name="connsiteY12" fmla="*/ 19416 h 125321"/>
              <a:gd name="connsiteX13" fmla="*/ 9267 w 162092"/>
              <a:gd name="connsiteY13" fmla="*/ 19416 h 125321"/>
              <a:gd name="connsiteX14" fmla="*/ 9267 w 162092"/>
              <a:gd name="connsiteY14" fmla="*/ 0 h 125321"/>
            </a:gdLst>
            <a:ahLst/>
            <a:cxnLst/>
            <a:rect l="l" t="t" r="r" b="b"/>
            <a:pathLst>
              <a:path w="162092" h="125321">
                <a:moveTo>
                  <a:pt x="9855" y="105905"/>
                </a:moveTo>
                <a:lnTo>
                  <a:pt x="152826" y="105905"/>
                </a:lnTo>
                <a:cubicBezTo>
                  <a:pt x="165181" y="105905"/>
                  <a:pt x="165181" y="125321"/>
                  <a:pt x="152826" y="125321"/>
                </a:cubicBezTo>
                <a:lnTo>
                  <a:pt x="9855" y="125321"/>
                </a:lnTo>
                <a:cubicBezTo>
                  <a:pt x="-2501" y="125321"/>
                  <a:pt x="-2501" y="105905"/>
                  <a:pt x="9855" y="105905"/>
                </a:cubicBezTo>
                <a:close/>
                <a:moveTo>
                  <a:pt x="9855" y="52952"/>
                </a:moveTo>
                <a:lnTo>
                  <a:pt x="116936" y="52952"/>
                </a:lnTo>
                <a:cubicBezTo>
                  <a:pt x="129292" y="52952"/>
                  <a:pt x="129292" y="72368"/>
                  <a:pt x="116936" y="72368"/>
                </a:cubicBezTo>
                <a:lnTo>
                  <a:pt x="9855" y="72368"/>
                </a:lnTo>
                <a:cubicBezTo>
                  <a:pt x="-2501" y="72368"/>
                  <a:pt x="-2501" y="52952"/>
                  <a:pt x="9855" y="52952"/>
                </a:cubicBezTo>
                <a:close/>
                <a:moveTo>
                  <a:pt x="9267" y="0"/>
                </a:moveTo>
                <a:lnTo>
                  <a:pt x="152238" y="0"/>
                </a:lnTo>
                <a:cubicBezTo>
                  <a:pt x="164593" y="0"/>
                  <a:pt x="164593" y="19416"/>
                  <a:pt x="152238" y="19416"/>
                </a:cubicBezTo>
                <a:lnTo>
                  <a:pt x="9267" y="19416"/>
                </a:lnTo>
                <a:cubicBezTo>
                  <a:pt x="-3089" y="19416"/>
                  <a:pt x="-3089" y="0"/>
                  <a:pt x="9267" y="0"/>
                </a:cubicBezTo>
                <a:close/>
              </a:path>
            </a:pathLst>
          </a:custGeom>
          <a:solidFill>
            <a:schemeClr val="bg1"/>
          </a:solidFill>
          <a:ln w="5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152430" y="500202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071164" y="1495017"/>
            <a:ext cx="1970010" cy="1584941"/>
          </a:xfrm>
          <a:prstGeom prst="hexagon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6963" y="8883872"/>
            <a:ext cx="3863339" cy="45859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44298" y="3554616"/>
            <a:ext cx="5937760" cy="245625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0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Scenario (AI-Generated): Adaptive Leadership of AI in Legal Onboarding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44298" y="2059907"/>
            <a:ext cx="2921000" cy="11016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72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011802" y="-338156"/>
            <a:ext cx="1947251" cy="3429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8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800000">
            <a:off x="969963" y="2181879"/>
            <a:ext cx="958131" cy="77715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7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60400" y="1951029"/>
            <a:ext cx="777151" cy="777150"/>
          </a:xfrm>
          <a:prstGeom prst="ellipse">
            <a:avLst/>
          </a:prstGeom>
          <a:gradFill>
            <a:gsLst>
              <a:gs pos="600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757059" y="2124161"/>
            <a:ext cx="5842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1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 rot="1800000">
            <a:off x="969963" y="4003618"/>
            <a:ext cx="958131" cy="77715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7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400" y="3772769"/>
            <a:ext cx="777151" cy="777150"/>
          </a:xfrm>
          <a:prstGeom prst="ellipse">
            <a:avLst/>
          </a:prstGeom>
          <a:gradFill>
            <a:gsLst>
              <a:gs pos="600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57059" y="3945900"/>
            <a:ext cx="584200" cy="3937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2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062900" y="1472200"/>
            <a:ext cx="3456000" cy="4320000"/>
          </a:xfrm>
          <a:prstGeom prst="round2Diag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9525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alphaModFix/>
          </a:blip>
          <a:srcRect l="2196" t="7240" r="1758" b="11314"/>
          <a:stretch>
            <a:fillRect/>
          </a:stretch>
        </p:blipFill>
        <p:spPr>
          <a:xfrm>
            <a:off x="8260899" y="1688200"/>
            <a:ext cx="3060000" cy="3888000"/>
          </a:xfrm>
          <a:custGeom>
            <a:avLst/>
            <a:gdLst/>
            <a:ahLst/>
            <a:cxnLst/>
            <a:rect l="l" t="t" r="r" b="b"/>
            <a:pathLst>
              <a:path w="3060000" h="3888000">
                <a:moveTo>
                  <a:pt x="424942" y="0"/>
                </a:moveTo>
                <a:lnTo>
                  <a:pt x="3060000" y="0"/>
                </a:lnTo>
                <a:lnTo>
                  <a:pt x="3060000" y="3463058"/>
                </a:lnTo>
                <a:cubicBezTo>
                  <a:pt x="3060000" y="3697747"/>
                  <a:pt x="2869747" y="3888000"/>
                  <a:pt x="2635058" y="3888000"/>
                </a:cubicBezTo>
                <a:lnTo>
                  <a:pt x="0" y="3888000"/>
                </a:lnTo>
                <a:lnTo>
                  <a:pt x="0" y="424942"/>
                </a:lnTo>
                <a:cubicBezTo>
                  <a:pt x="0" y="190253"/>
                  <a:pt x="190253" y="0"/>
                  <a:pt x="424942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1" name="标题 1"/>
          <p:cNvSpPr txBox="1"/>
          <p:nvPr/>
        </p:nvSpPr>
        <p:spPr>
          <a:xfrm>
            <a:off x="1669138" y="2490974"/>
            <a:ext cx="5940000" cy="97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Quick adoption.
Corporate shows low adoption.
Concerns about utility.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669141" y="2027654"/>
            <a:ext cx="5940000" cy="4474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Litigation Team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669138" y="4312715"/>
            <a:ext cx="5940000" cy="97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Unsure how to integrate the tool into existing research workflows.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669141" y="3849393"/>
            <a:ext cx="5940000" cy="4474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New Associates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Early Signals</a:t>
            </a:r>
            <a:endParaRPr kumimoji="1" lang="zh-CN" altLang="en-US"/>
          </a:p>
        </p:txBody>
      </p:sp>
      <p:cxnSp>
        <p:nvCxnSpPr>
          <p:cNvPr id="16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17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0" y="699395"/>
            <a:ext cx="12192000" cy="5034247"/>
          </a:xfrm>
          <a:custGeom>
            <a:avLst/>
            <a:gdLst>
              <a:gd name="connsiteX0" fmla="*/ 12192000 w 12192000"/>
              <a:gd name="connsiteY0" fmla="*/ 0 h 5034247"/>
              <a:gd name="connsiteX1" fmla="*/ 12192000 w 12192000"/>
              <a:gd name="connsiteY1" fmla="*/ 3944948 h 5034247"/>
              <a:gd name="connsiteX2" fmla="*/ 12129156 w 12192000"/>
              <a:gd name="connsiteY2" fmla="*/ 3898888 h 5034247"/>
              <a:gd name="connsiteX3" fmla="*/ 11449879 w 12192000"/>
              <a:gd name="connsiteY3" fmla="*/ 3663610 h 5034247"/>
              <a:gd name="connsiteX4" fmla="*/ 7394713 w 12192000"/>
              <a:gd name="connsiteY4" fmla="*/ 4578010 h 5034247"/>
              <a:gd name="connsiteX5" fmla="*/ 4373219 w 12192000"/>
              <a:gd name="connsiteY5" fmla="*/ 3107019 h 5034247"/>
              <a:gd name="connsiteX6" fmla="*/ 80211 w 12192000"/>
              <a:gd name="connsiteY6" fmla="*/ 5006526 h 5034247"/>
              <a:gd name="connsiteX7" fmla="*/ 0 w 12192000"/>
              <a:gd name="connsiteY7" fmla="*/ 5034247 h 5034247"/>
              <a:gd name="connsiteX8" fmla="*/ 0 w 12192000"/>
              <a:gd name="connsiteY8" fmla="*/ 2170361 h 5034247"/>
              <a:gd name="connsiteX9" fmla="*/ 37545 w 12192000"/>
              <a:gd name="connsiteY9" fmla="*/ 2198676 h 5034247"/>
              <a:gd name="connsiteX10" fmla="*/ 1411357 w 12192000"/>
              <a:gd name="connsiteY10" fmla="*/ 2669697 h 5034247"/>
              <a:gd name="connsiteX11" fmla="*/ 7215809 w 12192000"/>
              <a:gd name="connsiteY11" fmla="*/ 1158949 h 5034247"/>
              <a:gd name="connsiteX12" fmla="*/ 12115606 w 12192000"/>
              <a:gd name="connsiteY12" fmla="*/ 8230 h 5034247"/>
            </a:gdLst>
            <a:ahLst/>
            <a:cxnLst/>
            <a:rect l="l" t="t" r="r" b="b"/>
            <a:pathLst>
              <a:path w="12192000" h="5034247">
                <a:moveTo>
                  <a:pt x="12192000" y="0"/>
                </a:moveTo>
                <a:lnTo>
                  <a:pt x="12192000" y="3944948"/>
                </a:lnTo>
                <a:lnTo>
                  <a:pt x="12129156" y="3898888"/>
                </a:lnTo>
                <a:cubicBezTo>
                  <a:pt x="11926336" y="3762795"/>
                  <a:pt x="11700842" y="3665267"/>
                  <a:pt x="11449879" y="3663610"/>
                </a:cubicBezTo>
                <a:cubicBezTo>
                  <a:pt x="10446027" y="3656984"/>
                  <a:pt x="8574156" y="4670775"/>
                  <a:pt x="7394713" y="4578010"/>
                </a:cubicBezTo>
                <a:cubicBezTo>
                  <a:pt x="6215271" y="4485245"/>
                  <a:pt x="5734880" y="3014254"/>
                  <a:pt x="4373219" y="3107019"/>
                </a:cubicBezTo>
                <a:cubicBezTo>
                  <a:pt x="3309421" y="3179492"/>
                  <a:pt x="1339712" y="4544100"/>
                  <a:pt x="80211" y="5006526"/>
                </a:cubicBezTo>
                <a:lnTo>
                  <a:pt x="0" y="5034247"/>
                </a:lnTo>
                <a:lnTo>
                  <a:pt x="0" y="2170361"/>
                </a:lnTo>
                <a:lnTo>
                  <a:pt x="37545" y="2198676"/>
                </a:lnTo>
                <a:cubicBezTo>
                  <a:pt x="422569" y="2464237"/>
                  <a:pt x="880856" y="2688333"/>
                  <a:pt x="1411357" y="2669697"/>
                </a:cubicBezTo>
                <a:cubicBezTo>
                  <a:pt x="2826026" y="2620001"/>
                  <a:pt x="5174975" y="1586332"/>
                  <a:pt x="7215809" y="1158949"/>
                </a:cubicBezTo>
                <a:cubicBezTo>
                  <a:pt x="8618883" y="865123"/>
                  <a:pt x="10648329" y="204870"/>
                  <a:pt x="12115606" y="8230"/>
                </a:cubicBezTo>
                <a:close/>
              </a:path>
            </a:pathLst>
          </a:custGeom>
          <a:solidFill>
            <a:schemeClr val="accent1">
              <a:alpha val="6000"/>
            </a:schemeClr>
          </a:solidFill>
          <a:ln w="12700" cap="sq">
            <a:noFill/>
            <a:miter/>
          </a:ln>
        </p:spPr>
        <p:txBody>
          <a:bodyPr vert="horz" wrap="square" lIns="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72964" y="2001508"/>
            <a:ext cx="2471956" cy="3275299"/>
          </a:xfrm>
          <a:prstGeom prst="roundRect">
            <a:avLst>
              <a:gd name="adj" fmla="val 10599"/>
            </a:avLst>
          </a:prstGeom>
          <a:solidFill>
            <a:schemeClr val="bg1"/>
          </a:solidFill>
          <a:ln w="381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H="1" flipV="1">
            <a:off x="987591" y="1987593"/>
            <a:ext cx="1842702" cy="603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94405" y="2030351"/>
            <a:ext cx="1629074" cy="533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28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Gathering Interaction Data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2747" y="2845561"/>
            <a:ext cx="1992389" cy="229554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Segment data by department.
Understand adoption patterns.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463961" y="2001508"/>
            <a:ext cx="2471956" cy="3275299"/>
          </a:xfrm>
          <a:prstGeom prst="roundRect">
            <a:avLst>
              <a:gd name="adj" fmla="val 10599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 flipH="1" flipV="1">
            <a:off x="3778588" y="1987593"/>
            <a:ext cx="1842702" cy="603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3872878" y="2030351"/>
            <a:ext cx="1629074" cy="533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Creating Tutorials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3703744" y="2845562"/>
            <a:ext cx="1992389" cy="22574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Use real- world scenarios.
Develop tutorials for Litigation, Corporate, and other practice groups.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254958" y="2001508"/>
            <a:ext cx="2471956" cy="3275299"/>
          </a:xfrm>
          <a:prstGeom prst="roundRect">
            <a:avLst>
              <a:gd name="adj" fmla="val 10599"/>
            </a:avLst>
          </a:prstGeom>
          <a:solidFill>
            <a:schemeClr val="bg1"/>
          </a:solidFill>
          <a:ln w="381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 flipH="1" flipV="1">
            <a:off x="6569585" y="1987593"/>
            <a:ext cx="1842702" cy="603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663875" y="2030351"/>
            <a:ext cx="1629074" cy="533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28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Hosting Feedback Meetings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496456" y="2845562"/>
            <a:ext cx="1988959" cy="22447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Update integration guides.
Base updates on user insights.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045955" y="2001508"/>
            <a:ext cx="2471956" cy="3275299"/>
          </a:xfrm>
          <a:prstGeom prst="roundRect">
            <a:avLst>
              <a:gd name="adj" fmla="val 10599"/>
            </a:avLst>
          </a:prstGeom>
          <a:gradFill>
            <a:gsLst>
              <a:gs pos="1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 w="12700" cap="sq">
            <a:noFill/>
            <a:miter/>
          </a:ln>
          <a:effectLst/>
        </p:spPr>
        <p:txBody>
          <a:bodyPr vert="horz" wrap="square" lIns="45720" tIns="22860" rIns="45720" bIns="2286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 flipH="1" flipV="1">
            <a:off x="9360582" y="1987593"/>
            <a:ext cx="1842702" cy="603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454872" y="2030351"/>
            <a:ext cx="1629074" cy="533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128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Modifying Rollout Schedule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9285738" y="2845562"/>
            <a:ext cx="1992389" cy="22574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Allow structured experimentation.
Facilitate learning.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222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Adaptive Response by Professional Development Director (Ms. Okafor)</a:t>
            </a:r>
            <a:endParaRPr kumimoji="1" lang="zh-CN" altLang="en-US"/>
          </a:p>
        </p:txBody>
      </p:sp>
      <p:cxnSp>
        <p:nvCxnSpPr>
          <p:cNvPr id="21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2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 flipV="1">
            <a:off x="10971354" y="1130300"/>
            <a:ext cx="547546" cy="438611"/>
          </a:xfrm>
          <a:custGeom>
            <a:avLst/>
            <a:gdLst>
              <a:gd name="T0" fmla="*/ 41 w 98"/>
              <a:gd name="T1" fmla="*/ 0 h 78"/>
              <a:gd name="T2" fmla="*/ 44 w 98"/>
              <a:gd name="T3" fmla="*/ 4 h 78"/>
              <a:gd name="T4" fmla="*/ 27 w 98"/>
              <a:gd name="T5" fmla="*/ 16 h 78"/>
              <a:gd name="T6" fmla="*/ 21 w 98"/>
              <a:gd name="T7" fmla="*/ 29 h 78"/>
              <a:gd name="T8" fmla="*/ 29 w 98"/>
              <a:gd name="T9" fmla="*/ 37 h 78"/>
              <a:gd name="T10" fmla="*/ 40 w 98"/>
              <a:gd name="T11" fmla="*/ 45 h 78"/>
              <a:gd name="T12" fmla="*/ 43 w 98"/>
              <a:gd name="T13" fmla="*/ 57 h 78"/>
              <a:gd name="T14" fmla="*/ 37 w 98"/>
              <a:gd name="T15" fmla="*/ 72 h 78"/>
              <a:gd name="T16" fmla="*/ 22 w 98"/>
              <a:gd name="T17" fmla="*/ 78 h 78"/>
              <a:gd name="T18" fmla="*/ 6 w 98"/>
              <a:gd name="T19" fmla="*/ 71 h 78"/>
              <a:gd name="T20" fmla="*/ 0 w 98"/>
              <a:gd name="T21" fmla="*/ 50 h 78"/>
              <a:gd name="T22" fmla="*/ 5 w 98"/>
              <a:gd name="T23" fmla="*/ 29 h 78"/>
              <a:gd name="T24" fmla="*/ 19 w 98"/>
              <a:gd name="T25" fmla="*/ 11 h 78"/>
              <a:gd name="T26" fmla="*/ 41 w 98"/>
              <a:gd name="T27" fmla="*/ 0 h 78"/>
              <a:gd name="T28" fmla="*/ 95 w 98"/>
              <a:gd name="T29" fmla="*/ 0 h 78"/>
              <a:gd name="T30" fmla="*/ 98 w 98"/>
              <a:gd name="T31" fmla="*/ 4 h 78"/>
              <a:gd name="T32" fmla="*/ 81 w 98"/>
              <a:gd name="T33" fmla="*/ 16 h 78"/>
              <a:gd name="T34" fmla="*/ 74 w 98"/>
              <a:gd name="T35" fmla="*/ 29 h 78"/>
              <a:gd name="T36" fmla="*/ 82 w 98"/>
              <a:gd name="T37" fmla="*/ 37 h 78"/>
              <a:gd name="T38" fmla="*/ 94 w 98"/>
              <a:gd name="T39" fmla="*/ 45 h 78"/>
              <a:gd name="T40" fmla="*/ 97 w 98"/>
              <a:gd name="T41" fmla="*/ 57 h 78"/>
              <a:gd name="T42" fmla="*/ 91 w 98"/>
              <a:gd name="T43" fmla="*/ 72 h 78"/>
              <a:gd name="T44" fmla="*/ 76 w 98"/>
              <a:gd name="T45" fmla="*/ 78 h 78"/>
              <a:gd name="T46" fmla="*/ 60 w 98"/>
              <a:gd name="T47" fmla="*/ 71 h 78"/>
              <a:gd name="T48" fmla="*/ 54 w 98"/>
              <a:gd name="T49" fmla="*/ 50 h 78"/>
              <a:gd name="T50" fmla="*/ 59 w 98"/>
              <a:gd name="T51" fmla="*/ 29 h 78"/>
              <a:gd name="T52" fmla="*/ 73 w 98"/>
              <a:gd name="T53" fmla="*/ 11 h 78"/>
              <a:gd name="T54" fmla="*/ 95 w 98"/>
              <a:gd name="T55" fmla="*/ 0 h 78"/>
            </a:gdLst>
            <a:ahLst/>
            <a:cxnLst/>
            <a:rect l="0" t="0" r="r" b="b"/>
            <a:pathLst>
              <a:path w="98" h="78">
                <a:moveTo>
                  <a:pt x="41" y="0"/>
                </a:moveTo>
                <a:cubicBezTo>
                  <a:pt x="44" y="4"/>
                  <a:pt x="44" y="4"/>
                  <a:pt x="44" y="4"/>
                </a:cubicBezTo>
                <a:cubicBezTo>
                  <a:pt x="37" y="8"/>
                  <a:pt x="31" y="11"/>
                  <a:pt x="27" y="16"/>
                </a:cubicBezTo>
                <a:cubicBezTo>
                  <a:pt x="23" y="20"/>
                  <a:pt x="21" y="25"/>
                  <a:pt x="21" y="29"/>
                </a:cubicBezTo>
                <a:cubicBezTo>
                  <a:pt x="21" y="31"/>
                  <a:pt x="23" y="34"/>
                  <a:pt x="29" y="37"/>
                </a:cubicBezTo>
                <a:cubicBezTo>
                  <a:pt x="34" y="39"/>
                  <a:pt x="38" y="42"/>
                  <a:pt x="40" y="45"/>
                </a:cubicBezTo>
                <a:cubicBezTo>
                  <a:pt x="42" y="48"/>
                  <a:pt x="43" y="52"/>
                  <a:pt x="43" y="57"/>
                </a:cubicBezTo>
                <a:cubicBezTo>
                  <a:pt x="43" y="63"/>
                  <a:pt x="41" y="68"/>
                  <a:pt x="37" y="72"/>
                </a:cubicBezTo>
                <a:cubicBezTo>
                  <a:pt x="33" y="76"/>
                  <a:pt x="28" y="78"/>
                  <a:pt x="22" y="78"/>
                </a:cubicBezTo>
                <a:cubicBezTo>
                  <a:pt x="16" y="78"/>
                  <a:pt x="10" y="76"/>
                  <a:pt x="6" y="71"/>
                </a:cubicBezTo>
                <a:cubicBezTo>
                  <a:pt x="2" y="65"/>
                  <a:pt x="0" y="59"/>
                  <a:pt x="0" y="50"/>
                </a:cubicBezTo>
                <a:cubicBezTo>
                  <a:pt x="0" y="43"/>
                  <a:pt x="1" y="36"/>
                  <a:pt x="5" y="29"/>
                </a:cubicBezTo>
                <a:cubicBezTo>
                  <a:pt x="8" y="22"/>
                  <a:pt x="13" y="16"/>
                  <a:pt x="19" y="11"/>
                </a:cubicBezTo>
                <a:cubicBezTo>
                  <a:pt x="26" y="6"/>
                  <a:pt x="33" y="2"/>
                  <a:pt x="41" y="0"/>
                </a:cubicBezTo>
                <a:close/>
                <a:moveTo>
                  <a:pt x="95" y="0"/>
                </a:moveTo>
                <a:cubicBezTo>
                  <a:pt x="98" y="4"/>
                  <a:pt x="98" y="4"/>
                  <a:pt x="98" y="4"/>
                </a:cubicBezTo>
                <a:cubicBezTo>
                  <a:pt x="91" y="8"/>
                  <a:pt x="85" y="11"/>
                  <a:pt x="81" y="16"/>
                </a:cubicBezTo>
                <a:cubicBezTo>
                  <a:pt x="77" y="20"/>
                  <a:pt x="74" y="25"/>
                  <a:pt x="74" y="29"/>
                </a:cubicBezTo>
                <a:cubicBezTo>
                  <a:pt x="74" y="31"/>
                  <a:pt x="77" y="34"/>
                  <a:pt x="82" y="37"/>
                </a:cubicBezTo>
                <a:cubicBezTo>
                  <a:pt x="88" y="39"/>
                  <a:pt x="91" y="42"/>
                  <a:pt x="94" y="45"/>
                </a:cubicBezTo>
                <a:cubicBezTo>
                  <a:pt x="96" y="48"/>
                  <a:pt x="97" y="52"/>
                  <a:pt x="97" y="57"/>
                </a:cubicBezTo>
                <a:cubicBezTo>
                  <a:pt x="97" y="63"/>
                  <a:pt x="95" y="68"/>
                  <a:pt x="91" y="72"/>
                </a:cubicBezTo>
                <a:cubicBezTo>
                  <a:pt x="87" y="76"/>
                  <a:pt x="82" y="78"/>
                  <a:pt x="76" y="78"/>
                </a:cubicBezTo>
                <a:cubicBezTo>
                  <a:pt x="69" y="78"/>
                  <a:pt x="64" y="76"/>
                  <a:pt x="60" y="71"/>
                </a:cubicBezTo>
                <a:cubicBezTo>
                  <a:pt x="56" y="65"/>
                  <a:pt x="54" y="59"/>
                  <a:pt x="54" y="50"/>
                </a:cubicBezTo>
                <a:cubicBezTo>
                  <a:pt x="54" y="43"/>
                  <a:pt x="55" y="36"/>
                  <a:pt x="59" y="29"/>
                </a:cubicBezTo>
                <a:cubicBezTo>
                  <a:pt x="62" y="22"/>
                  <a:pt x="67" y="16"/>
                  <a:pt x="73" y="11"/>
                </a:cubicBezTo>
                <a:cubicBezTo>
                  <a:pt x="79" y="6"/>
                  <a:pt x="87" y="2"/>
                  <a:pt x="9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351099" y="1651691"/>
            <a:ext cx="9489802" cy="107523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Dynamic Change Leadership</a:t>
            </a:r>
            <a:endParaRPr kumimoji="1" lang="zh-CN" altLang="en-US"/>
          </a:p>
        </p:txBody>
      </p:sp>
      <p:cxnSp>
        <p:nvCxnSpPr>
          <p:cNvPr id="5" name="标题 1"/>
          <p:cNvCxnSpPr/>
          <p:nvPr/>
        </p:nvCxnSpPr>
        <p:spPr>
          <a:xfrm>
            <a:off x="-134983" y="3247094"/>
            <a:ext cx="12461966" cy="0"/>
          </a:xfrm>
          <a:prstGeom prst="line">
            <a:avLst/>
          </a:prstGeom>
          <a:noFill/>
          <a:ln w="12700" cap="sq">
            <a:solidFill>
              <a:schemeClr val="bg1">
                <a:lumMod val="85000"/>
              </a:schemeClr>
            </a:solidFill>
            <a:miter/>
          </a:ln>
        </p:spPr>
      </p:cxnSp>
      <p:sp>
        <p:nvSpPr>
          <p:cNvPr id="6" name="标题 1"/>
          <p:cNvSpPr txBox="1"/>
          <p:nvPr/>
        </p:nvSpPr>
        <p:spPr>
          <a:xfrm>
            <a:off x="6060000" y="3211094"/>
            <a:ext cx="72000" cy="72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06853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06853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853745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Observe → Respond → Evolve.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920505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2040152" y="3069136"/>
            <a:ext cx="376306" cy="329450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/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788201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907849" y="3072884"/>
            <a:ext cx="376304" cy="311256"/>
          </a:xfrm>
          <a:custGeom>
            <a:avLst/>
            <a:gdLst>
              <a:gd name="connsiteX0" fmla="*/ 114387 w 870468"/>
              <a:gd name="connsiteY0" fmla="*/ 394297 h 720000"/>
              <a:gd name="connsiteX1" fmla="*/ 125598 w 870468"/>
              <a:gd name="connsiteY1" fmla="*/ 421319 h 720000"/>
              <a:gd name="connsiteX2" fmla="*/ 153878 w 870468"/>
              <a:gd name="connsiteY2" fmla="*/ 433051 h 720000"/>
              <a:gd name="connsiteX3" fmla="*/ 449972 w 870468"/>
              <a:gd name="connsiteY3" fmla="*/ 433051 h 720000"/>
              <a:gd name="connsiteX4" fmla="*/ 478295 w 870468"/>
              <a:gd name="connsiteY4" fmla="*/ 421319 h 720000"/>
              <a:gd name="connsiteX5" fmla="*/ 489465 w 870468"/>
              <a:gd name="connsiteY5" fmla="*/ 394297 h 720000"/>
              <a:gd name="connsiteX6" fmla="*/ 116266 w 870468"/>
              <a:gd name="connsiteY6" fmla="*/ 68594 h 720000"/>
              <a:gd name="connsiteX7" fmla="*/ 68708 w 870468"/>
              <a:gd name="connsiteY7" fmla="*/ 116152 h 720000"/>
              <a:gd name="connsiteX8" fmla="*/ 68708 w 870468"/>
              <a:gd name="connsiteY8" fmla="*/ 241561 h 720000"/>
              <a:gd name="connsiteX9" fmla="*/ 801875 w 870468"/>
              <a:gd name="connsiteY9" fmla="*/ 241561 h 720000"/>
              <a:gd name="connsiteX10" fmla="*/ 801875 w 870468"/>
              <a:gd name="connsiteY10" fmla="*/ 116152 h 720000"/>
              <a:gd name="connsiteX11" fmla="*/ 754317 w 870468"/>
              <a:gd name="connsiteY11" fmla="*/ 68594 h 720000"/>
              <a:gd name="connsiteX12" fmla="*/ 598821 w 870468"/>
              <a:gd name="connsiteY12" fmla="*/ 68594 h 720000"/>
              <a:gd name="connsiteX13" fmla="*/ 116266 w 870468"/>
              <a:gd name="connsiteY13" fmla="*/ 0 h 720000"/>
              <a:gd name="connsiteX14" fmla="*/ 598821 w 870468"/>
              <a:gd name="connsiteY14" fmla="*/ 0 h 720000"/>
              <a:gd name="connsiteX15" fmla="*/ 754317 w 870468"/>
              <a:gd name="connsiteY15" fmla="*/ 0 h 720000"/>
              <a:gd name="connsiteX16" fmla="*/ 870468 w 870468"/>
              <a:gd name="connsiteY16" fmla="*/ 116152 h 720000"/>
              <a:gd name="connsiteX17" fmla="*/ 870468 w 870468"/>
              <a:gd name="connsiteY17" fmla="*/ 360001 h 720000"/>
              <a:gd name="connsiteX18" fmla="*/ 870468 w 870468"/>
              <a:gd name="connsiteY18" fmla="*/ 603736 h 720000"/>
              <a:gd name="connsiteX19" fmla="*/ 754317 w 870468"/>
              <a:gd name="connsiteY19" fmla="*/ 720000 h 720000"/>
              <a:gd name="connsiteX20" fmla="*/ 598821 w 870468"/>
              <a:gd name="connsiteY20" fmla="*/ 720000 h 720000"/>
              <a:gd name="connsiteX21" fmla="*/ 116266 w 870468"/>
              <a:gd name="connsiteY21" fmla="*/ 720000 h 720000"/>
              <a:gd name="connsiteX22" fmla="*/ 115 w 870468"/>
              <a:gd name="connsiteY22" fmla="*/ 603850 h 720000"/>
              <a:gd name="connsiteX23" fmla="*/ 115 w 870468"/>
              <a:gd name="connsiteY23" fmla="*/ 360279 h 720000"/>
              <a:gd name="connsiteX24" fmla="*/ 0 w 870468"/>
              <a:gd name="connsiteY24" fmla="*/ 360001 h 720000"/>
              <a:gd name="connsiteX25" fmla="*/ 115 w 870468"/>
              <a:gd name="connsiteY25" fmla="*/ 359723 h 720000"/>
              <a:gd name="connsiteX26" fmla="*/ 115 w 870468"/>
              <a:gd name="connsiteY26" fmla="*/ 116152 h 720000"/>
              <a:gd name="connsiteX27" fmla="*/ 116266 w 870468"/>
              <a:gd name="connsiteY27" fmla="*/ 0 h 720000"/>
            </a:gdLst>
            <a:ahLst/>
            <a:cxnLst/>
            <a:rect l="l" t="t" r="r" b="b"/>
            <a:pathLst>
              <a:path w="870468" h="720000">
                <a:moveTo>
                  <a:pt x="114387" y="394297"/>
                </a:moveTo>
                <a:lnTo>
                  <a:pt x="125598" y="421319"/>
                </a:lnTo>
                <a:cubicBezTo>
                  <a:pt x="132843" y="428564"/>
                  <a:pt x="142846" y="433051"/>
                  <a:pt x="153878" y="433051"/>
                </a:cubicBezTo>
                <a:lnTo>
                  <a:pt x="449972" y="433051"/>
                </a:lnTo>
                <a:cubicBezTo>
                  <a:pt x="461061" y="433051"/>
                  <a:pt x="471064" y="428564"/>
                  <a:pt x="478295" y="421319"/>
                </a:cubicBezTo>
                <a:lnTo>
                  <a:pt x="489465" y="394297"/>
                </a:lnTo>
                <a:close/>
                <a:moveTo>
                  <a:pt x="116266" y="68594"/>
                </a:moveTo>
                <a:cubicBezTo>
                  <a:pt x="89972" y="68594"/>
                  <a:pt x="68708" y="89972"/>
                  <a:pt x="68708" y="116152"/>
                </a:cubicBezTo>
                <a:lnTo>
                  <a:pt x="68708" y="241561"/>
                </a:lnTo>
                <a:lnTo>
                  <a:pt x="801875" y="241561"/>
                </a:lnTo>
                <a:lnTo>
                  <a:pt x="801875" y="116152"/>
                </a:lnTo>
                <a:cubicBezTo>
                  <a:pt x="801875" y="89858"/>
                  <a:pt x="780497" y="68594"/>
                  <a:pt x="754317" y="68594"/>
                </a:cubicBezTo>
                <a:lnTo>
                  <a:pt x="598821" y="68594"/>
                </a:lnTo>
                <a:close/>
                <a:moveTo>
                  <a:pt x="116266" y="0"/>
                </a:moveTo>
                <a:lnTo>
                  <a:pt x="598821" y="0"/>
                </a:lnTo>
                <a:lnTo>
                  <a:pt x="754317" y="0"/>
                </a:lnTo>
                <a:cubicBezTo>
                  <a:pt x="818338" y="0"/>
                  <a:pt x="870468" y="52131"/>
                  <a:pt x="870468" y="116152"/>
                </a:cubicBezTo>
                <a:lnTo>
                  <a:pt x="870468" y="360001"/>
                </a:lnTo>
                <a:lnTo>
                  <a:pt x="870468" y="603736"/>
                </a:lnTo>
                <a:cubicBezTo>
                  <a:pt x="870468" y="667870"/>
                  <a:pt x="818338" y="720000"/>
                  <a:pt x="754317" y="720000"/>
                </a:cubicBezTo>
                <a:lnTo>
                  <a:pt x="598821" y="720000"/>
                </a:lnTo>
                <a:lnTo>
                  <a:pt x="116266" y="720000"/>
                </a:lnTo>
                <a:cubicBezTo>
                  <a:pt x="52246" y="720000"/>
                  <a:pt x="115" y="667870"/>
                  <a:pt x="115" y="603850"/>
                </a:cubicBezTo>
                <a:lnTo>
                  <a:pt x="115" y="360279"/>
                </a:lnTo>
                <a:lnTo>
                  <a:pt x="0" y="360001"/>
                </a:lnTo>
                <a:lnTo>
                  <a:pt x="115" y="359723"/>
                </a:lnTo>
                <a:lnTo>
                  <a:pt x="115" y="116152"/>
                </a:lnTo>
                <a:cubicBezTo>
                  <a:pt x="115" y="52131"/>
                  <a:pt x="52246" y="0"/>
                  <a:pt x="116266" y="0"/>
                </a:cubicBezTo>
                <a:close/>
              </a:path>
            </a:pathLst>
          </a:cu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461396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461396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708288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Use performance and engagement data.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315938" y="3812469"/>
            <a:ext cx="3269210" cy="2084137"/>
          </a:xfrm>
          <a:prstGeom prst="roundRect">
            <a:avLst>
              <a:gd name="adj" fmla="val 11235"/>
            </a:avLst>
          </a:prstGeom>
          <a:solidFill>
            <a:schemeClr val="bg1">
              <a:lumMod val="9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8315938" y="4180526"/>
            <a:ext cx="3269210" cy="1850207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562830" y="4469928"/>
            <a:ext cx="2776177" cy="12908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Iteratively tune content, delivery, and timing.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9629590" y="2931152"/>
            <a:ext cx="615600" cy="684000"/>
          </a:xfrm>
          <a:custGeom>
            <a:avLst/>
            <a:gdLst>
              <a:gd name="connsiteX0" fmla="*/ 2424113 w 3143250"/>
              <a:gd name="connsiteY0" fmla="*/ 3048000 h 3448681"/>
              <a:gd name="connsiteX1" fmla="*/ 1897285 w 3143250"/>
              <a:gd name="connsiteY1" fmla="*/ 3048000 h 3448681"/>
              <a:gd name="connsiteX2" fmla="*/ 1834229 w 3143250"/>
              <a:gd name="connsiteY2" fmla="*/ 3093053 h 3448681"/>
              <a:gd name="connsiteX3" fmla="*/ 1493330 w 3143250"/>
              <a:gd name="connsiteY3" fmla="*/ 3441287 h 3448681"/>
              <a:gd name="connsiteX4" fmla="*/ 1403547 w 3143250"/>
              <a:gd name="connsiteY4" fmla="*/ 3412484 h 3448681"/>
              <a:gd name="connsiteX5" fmla="*/ 1398842 w 3143250"/>
              <a:gd name="connsiteY5" fmla="*/ 3363278 h 3448681"/>
              <a:gd name="connsiteX6" fmla="*/ 1269111 w 3143250"/>
              <a:gd name="connsiteY6" fmla="*/ 3052667 h 3448681"/>
              <a:gd name="connsiteX7" fmla="*/ 1244632 w 3143250"/>
              <a:gd name="connsiteY7" fmla="*/ 3048000 h 3448681"/>
              <a:gd name="connsiteX8" fmla="*/ 719138 w 3143250"/>
              <a:gd name="connsiteY8" fmla="*/ 3048000 h 3448681"/>
              <a:gd name="connsiteX9" fmla="*/ 0 w 3143250"/>
              <a:gd name="connsiteY9" fmla="*/ 2328863 h 3448681"/>
              <a:gd name="connsiteX10" fmla="*/ 0 w 3143250"/>
              <a:gd name="connsiteY10" fmla="*/ 719138 h 3448681"/>
              <a:gd name="connsiteX11" fmla="*/ 719138 w 3143250"/>
              <a:gd name="connsiteY11" fmla="*/ 0 h 3448681"/>
              <a:gd name="connsiteX12" fmla="*/ 2424113 w 3143250"/>
              <a:gd name="connsiteY12" fmla="*/ 0 h 3448681"/>
              <a:gd name="connsiteX13" fmla="*/ 3143250 w 3143250"/>
              <a:gd name="connsiteY13" fmla="*/ 719138 h 3448681"/>
              <a:gd name="connsiteX14" fmla="*/ 3143250 w 3143250"/>
              <a:gd name="connsiteY14" fmla="*/ 2328863 h 3448681"/>
              <a:gd name="connsiteX15" fmla="*/ 2424113 w 3143250"/>
              <a:gd name="connsiteY15" fmla="*/ 3048000 h 3448681"/>
            </a:gdLst>
            <a:ahLst/>
            <a:cxnLst/>
            <a:rect l="l" t="t" r="r" b="b"/>
            <a:pathLst>
              <a:path w="3143250" h="3448681">
                <a:moveTo>
                  <a:pt x="2424113" y="3048000"/>
                </a:moveTo>
                <a:lnTo>
                  <a:pt x="1897285" y="3048000"/>
                </a:lnTo>
                <a:cubicBezTo>
                  <a:pt x="1868805" y="3048010"/>
                  <a:pt x="1843468" y="3066107"/>
                  <a:pt x="1834229" y="3093053"/>
                </a:cubicBezTo>
                <a:cubicBezTo>
                  <a:pt x="1770888" y="3270314"/>
                  <a:pt x="1615154" y="3380041"/>
                  <a:pt x="1493330" y="3441287"/>
                </a:cubicBezTo>
                <a:cubicBezTo>
                  <a:pt x="1460583" y="3458128"/>
                  <a:pt x="1420387" y="3445231"/>
                  <a:pt x="1403547" y="3412484"/>
                </a:cubicBezTo>
                <a:cubicBezTo>
                  <a:pt x="1395727" y="3397291"/>
                  <a:pt x="1394041" y="3379680"/>
                  <a:pt x="1398842" y="3363278"/>
                </a:cubicBezTo>
                <a:cubicBezTo>
                  <a:pt x="1430750" y="3257550"/>
                  <a:pt x="1432465" y="3120199"/>
                  <a:pt x="1269111" y="3052667"/>
                </a:cubicBezTo>
                <a:cubicBezTo>
                  <a:pt x="1261339" y="3049505"/>
                  <a:pt x="1253023" y="3047914"/>
                  <a:pt x="1244632" y="3048000"/>
                </a:cubicBezTo>
                <a:lnTo>
                  <a:pt x="719138" y="3048000"/>
                </a:lnTo>
                <a:cubicBezTo>
                  <a:pt x="321969" y="3048000"/>
                  <a:pt x="0" y="2726036"/>
                  <a:pt x="0" y="2328863"/>
                </a:cubicBezTo>
                <a:lnTo>
                  <a:pt x="0" y="719138"/>
                </a:lnTo>
                <a:cubicBezTo>
                  <a:pt x="0" y="321969"/>
                  <a:pt x="321969" y="0"/>
                  <a:pt x="719138" y="0"/>
                </a:cubicBezTo>
                <a:lnTo>
                  <a:pt x="2424113" y="0"/>
                </a:lnTo>
                <a:cubicBezTo>
                  <a:pt x="2821286" y="0"/>
                  <a:pt x="3143250" y="321969"/>
                  <a:pt x="3143250" y="719138"/>
                </a:cubicBezTo>
                <a:lnTo>
                  <a:pt x="3143250" y="2328863"/>
                </a:lnTo>
                <a:cubicBezTo>
                  <a:pt x="3143250" y="2726036"/>
                  <a:pt x="2821286" y="3048000"/>
                  <a:pt x="2424113" y="30480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739390" y="3030858"/>
            <a:ext cx="396000" cy="366328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/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Key Lesson</a:t>
            </a:r>
            <a:endParaRPr kumimoji="1" lang="zh-CN" altLang="en-US"/>
          </a:p>
        </p:txBody>
      </p:sp>
      <p:cxnSp>
        <p:nvCxnSpPr>
          <p:cNvPr id="23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4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183" r="1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11501187" y="502429"/>
            <a:ext cx="162092" cy="125321"/>
          </a:xfrm>
          <a:custGeom>
            <a:avLst/>
            <a:gdLst>
              <a:gd name="connsiteX0" fmla="*/ 9855 w 162092"/>
              <a:gd name="connsiteY0" fmla="*/ 105905 h 125321"/>
              <a:gd name="connsiteX1" fmla="*/ 152826 w 162092"/>
              <a:gd name="connsiteY1" fmla="*/ 105905 h 125321"/>
              <a:gd name="connsiteX2" fmla="*/ 152826 w 162092"/>
              <a:gd name="connsiteY2" fmla="*/ 125321 h 125321"/>
              <a:gd name="connsiteX3" fmla="*/ 9855 w 162092"/>
              <a:gd name="connsiteY3" fmla="*/ 125321 h 125321"/>
              <a:gd name="connsiteX4" fmla="*/ 9855 w 162092"/>
              <a:gd name="connsiteY4" fmla="*/ 105905 h 125321"/>
              <a:gd name="connsiteX5" fmla="*/ 9855 w 162092"/>
              <a:gd name="connsiteY5" fmla="*/ 52952 h 125321"/>
              <a:gd name="connsiteX6" fmla="*/ 116936 w 162092"/>
              <a:gd name="connsiteY6" fmla="*/ 52952 h 125321"/>
              <a:gd name="connsiteX7" fmla="*/ 116936 w 162092"/>
              <a:gd name="connsiteY7" fmla="*/ 72368 h 125321"/>
              <a:gd name="connsiteX8" fmla="*/ 9855 w 162092"/>
              <a:gd name="connsiteY8" fmla="*/ 72368 h 125321"/>
              <a:gd name="connsiteX9" fmla="*/ 9855 w 162092"/>
              <a:gd name="connsiteY9" fmla="*/ 52952 h 125321"/>
              <a:gd name="connsiteX10" fmla="*/ 9267 w 162092"/>
              <a:gd name="connsiteY10" fmla="*/ 0 h 125321"/>
              <a:gd name="connsiteX11" fmla="*/ 152238 w 162092"/>
              <a:gd name="connsiteY11" fmla="*/ 0 h 125321"/>
              <a:gd name="connsiteX12" fmla="*/ 152238 w 162092"/>
              <a:gd name="connsiteY12" fmla="*/ 19416 h 125321"/>
              <a:gd name="connsiteX13" fmla="*/ 9267 w 162092"/>
              <a:gd name="connsiteY13" fmla="*/ 19416 h 125321"/>
              <a:gd name="connsiteX14" fmla="*/ 9267 w 162092"/>
              <a:gd name="connsiteY14" fmla="*/ 0 h 125321"/>
            </a:gdLst>
            <a:ahLst/>
            <a:cxnLst/>
            <a:rect l="l" t="t" r="r" b="b"/>
            <a:pathLst>
              <a:path w="162092" h="125321">
                <a:moveTo>
                  <a:pt x="9855" y="105905"/>
                </a:moveTo>
                <a:lnTo>
                  <a:pt x="152826" y="105905"/>
                </a:lnTo>
                <a:cubicBezTo>
                  <a:pt x="165181" y="105905"/>
                  <a:pt x="165181" y="125321"/>
                  <a:pt x="152826" y="125321"/>
                </a:cubicBezTo>
                <a:lnTo>
                  <a:pt x="9855" y="125321"/>
                </a:lnTo>
                <a:cubicBezTo>
                  <a:pt x="-2501" y="125321"/>
                  <a:pt x="-2501" y="105905"/>
                  <a:pt x="9855" y="105905"/>
                </a:cubicBezTo>
                <a:close/>
                <a:moveTo>
                  <a:pt x="9855" y="52952"/>
                </a:moveTo>
                <a:lnTo>
                  <a:pt x="116936" y="52952"/>
                </a:lnTo>
                <a:cubicBezTo>
                  <a:pt x="129292" y="52952"/>
                  <a:pt x="129292" y="72368"/>
                  <a:pt x="116936" y="72368"/>
                </a:cubicBezTo>
                <a:lnTo>
                  <a:pt x="9855" y="72368"/>
                </a:lnTo>
                <a:cubicBezTo>
                  <a:pt x="-2501" y="72368"/>
                  <a:pt x="-2501" y="52952"/>
                  <a:pt x="9855" y="52952"/>
                </a:cubicBezTo>
                <a:close/>
                <a:moveTo>
                  <a:pt x="9267" y="0"/>
                </a:moveTo>
                <a:lnTo>
                  <a:pt x="152238" y="0"/>
                </a:lnTo>
                <a:cubicBezTo>
                  <a:pt x="164593" y="0"/>
                  <a:pt x="164593" y="19416"/>
                  <a:pt x="152238" y="19416"/>
                </a:cubicBezTo>
                <a:lnTo>
                  <a:pt x="9267" y="19416"/>
                </a:lnTo>
                <a:cubicBezTo>
                  <a:pt x="-3089" y="19416"/>
                  <a:pt x="-3089" y="0"/>
                  <a:pt x="9267" y="0"/>
                </a:cubicBezTo>
                <a:close/>
              </a:path>
            </a:pathLst>
          </a:custGeom>
          <a:solidFill>
            <a:schemeClr val="bg1"/>
          </a:solidFill>
          <a:ln w="5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152430" y="500202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3071164" y="1495017"/>
            <a:ext cx="1970010" cy="1584941"/>
          </a:xfrm>
          <a:prstGeom prst="hexagon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3"/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16963" y="8883872"/>
            <a:ext cx="3863339" cy="45859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4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Here is where your presentation begins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44298" y="3554616"/>
            <a:ext cx="5937760" cy="2456256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30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Reflection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44298" y="2059907"/>
            <a:ext cx="2921000" cy="110169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72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Part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011802" y="-338156"/>
            <a:ext cx="1947251" cy="3429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88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alphaModFix/>
          </a:blip>
          <a:srcRect l="34744" t="6769" r="21237" b="7355"/>
          <a:stretch>
            <a:fillRect/>
          </a:stretch>
        </p:blipFill>
        <p:spPr>
          <a:xfrm>
            <a:off x="7183325" y="1204477"/>
            <a:ext cx="4025094" cy="4855445"/>
          </a:xfrm>
          <a:custGeom>
            <a:avLst/>
            <a:gdLst/>
            <a:ahLst/>
            <a:cxnLst/>
            <a:rect l="l" t="t" r="r" b="b"/>
            <a:pathLst>
              <a:path w="4025094" h="4855445">
                <a:moveTo>
                  <a:pt x="0" y="0"/>
                </a:moveTo>
                <a:lnTo>
                  <a:pt x="4025094" y="0"/>
                </a:lnTo>
                <a:lnTo>
                  <a:pt x="4025094" y="4855445"/>
                </a:lnTo>
                <a:lnTo>
                  <a:pt x="0" y="4855445"/>
                </a:lnTo>
                <a:close/>
              </a:path>
            </a:pathLst>
          </a:custGeom>
          <a:noFill/>
          <a:ln cap="sq"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933453" y="1837491"/>
            <a:ext cx="5397006" cy="1458477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723561" y="1837491"/>
            <a:ext cx="4517389" cy="1458477"/>
          </a:xfrm>
          <a:prstGeom prst="roundRect">
            <a:avLst>
              <a:gd name="adj" fmla="val 2711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852317" y="2488306"/>
            <a:ext cx="4335873" cy="81723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85039" tIns="42520" rIns="85039" bIns="4252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Collect feedback systematically.
Revise strategies.
Institutionalize learning cycles.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852319" y="2022721"/>
            <a:ext cx="3759200" cy="41524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85039" tIns="42520" rIns="85039" bIns="4252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Systematic Feedback Collection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94028" y="2255303"/>
            <a:ext cx="850900" cy="5994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3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5612762" y="2076760"/>
            <a:ext cx="235495" cy="328468"/>
          </a:xfrm>
          <a:prstGeom prst="chevron">
            <a:avLst>
              <a:gd name="adj" fmla="val 60698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5769051" y="2076760"/>
            <a:ext cx="235495" cy="328468"/>
          </a:xfrm>
          <a:prstGeom prst="chevron">
            <a:avLst>
              <a:gd name="adj" fmla="val 60698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933453" y="3971528"/>
            <a:ext cx="5397006" cy="1458477"/>
          </a:xfrm>
          <a:prstGeom prst="roundRect">
            <a:avLst>
              <a:gd name="adj" fmla="val 5497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723561" y="3971528"/>
            <a:ext cx="4517389" cy="1458477"/>
          </a:xfrm>
          <a:prstGeom prst="roundRect">
            <a:avLst>
              <a:gd name="adj" fmla="val 2711"/>
            </a:avLst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852317" y="4622343"/>
            <a:ext cx="4335873" cy="817235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85039" tIns="42520" rIns="85039" bIns="42520" rtlCol="0" anchor="t"/>
          <a:lstStyle/>
          <a:p>
            <a:pPr algn="l"/>
            <a:r>
              <a:rPr kumimoji="1" lang="en-US" altLang="zh-CN" sz="12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More likely to deliver sustainable outcomes.
Promote equitable outcomes.
Principles applicable to various contexts.</a:t>
            </a: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852319" y="4156758"/>
            <a:ext cx="3759200" cy="41524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85039" tIns="42520" rIns="85039" bIns="42520" rtlCol="0" anchor="b"/>
          <a:lstStyle/>
          <a:p>
            <a:pPr algn="l"/>
            <a:r>
              <a:rPr kumimoji="1" lang="en-US" altLang="zh-CN" sz="1571">
                <a:ln w="12700">
                  <a:noFill/>
                </a:ln>
                <a:solidFill>
                  <a:srgbClr val="0549E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Delivering Sustainable Outcomes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882775" y="4389340"/>
            <a:ext cx="876300" cy="59944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34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5612762" y="4210797"/>
            <a:ext cx="235495" cy="328468"/>
          </a:xfrm>
          <a:prstGeom prst="chevron">
            <a:avLst>
              <a:gd name="adj" fmla="val 60698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5769051" y="4210797"/>
            <a:ext cx="235495" cy="328468"/>
          </a:xfrm>
          <a:prstGeom prst="chevron">
            <a:avLst>
              <a:gd name="adj" fmla="val 60698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60400" y="4065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Adaptive Learning as a Leadership Capability</a:t>
            </a:r>
            <a:endParaRPr kumimoji="1" lang="zh-CN" altLang="en-US"/>
          </a:p>
        </p:txBody>
      </p:sp>
      <p:cxnSp>
        <p:nvCxnSpPr>
          <p:cNvPr id="19" name="标题 1"/>
          <p:cNvCxnSpPr/>
          <p:nvPr/>
        </p:nvCxnSpPr>
        <p:spPr>
          <a:xfrm>
            <a:off x="660400" y="958850"/>
            <a:ext cx="11461750" cy="0"/>
          </a:xfrm>
          <a:prstGeom prst="line">
            <a:avLst/>
          </a:prstGeom>
          <a:noFill/>
          <a:ln w="28575" cap="sq">
            <a:gradFill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  <a:miter/>
          </a:ln>
        </p:spPr>
      </p:cxnSp>
      <p:sp>
        <p:nvSpPr>
          <p:cNvPr id="20" name="标题 1"/>
          <p:cNvSpPr txBox="1"/>
          <p:nvPr/>
        </p:nvSpPr>
        <p:spPr>
          <a:xfrm>
            <a:off x="42545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203200" y="561165"/>
            <a:ext cx="158750" cy="15875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alphaModFix/>
          </a:blip>
          <a:srcRect l="183" r="18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11501187" y="502429"/>
            <a:ext cx="162092" cy="125321"/>
          </a:xfrm>
          <a:custGeom>
            <a:avLst/>
            <a:gdLst>
              <a:gd name="connsiteX0" fmla="*/ 9855 w 162092"/>
              <a:gd name="connsiteY0" fmla="*/ 105905 h 125321"/>
              <a:gd name="connsiteX1" fmla="*/ 152826 w 162092"/>
              <a:gd name="connsiteY1" fmla="*/ 105905 h 125321"/>
              <a:gd name="connsiteX2" fmla="*/ 152826 w 162092"/>
              <a:gd name="connsiteY2" fmla="*/ 125321 h 125321"/>
              <a:gd name="connsiteX3" fmla="*/ 9855 w 162092"/>
              <a:gd name="connsiteY3" fmla="*/ 125321 h 125321"/>
              <a:gd name="connsiteX4" fmla="*/ 9855 w 162092"/>
              <a:gd name="connsiteY4" fmla="*/ 105905 h 125321"/>
              <a:gd name="connsiteX5" fmla="*/ 9855 w 162092"/>
              <a:gd name="connsiteY5" fmla="*/ 52952 h 125321"/>
              <a:gd name="connsiteX6" fmla="*/ 116936 w 162092"/>
              <a:gd name="connsiteY6" fmla="*/ 52952 h 125321"/>
              <a:gd name="connsiteX7" fmla="*/ 116936 w 162092"/>
              <a:gd name="connsiteY7" fmla="*/ 72368 h 125321"/>
              <a:gd name="connsiteX8" fmla="*/ 9855 w 162092"/>
              <a:gd name="connsiteY8" fmla="*/ 72368 h 125321"/>
              <a:gd name="connsiteX9" fmla="*/ 9855 w 162092"/>
              <a:gd name="connsiteY9" fmla="*/ 52952 h 125321"/>
              <a:gd name="connsiteX10" fmla="*/ 9267 w 162092"/>
              <a:gd name="connsiteY10" fmla="*/ 0 h 125321"/>
              <a:gd name="connsiteX11" fmla="*/ 152238 w 162092"/>
              <a:gd name="connsiteY11" fmla="*/ 0 h 125321"/>
              <a:gd name="connsiteX12" fmla="*/ 152238 w 162092"/>
              <a:gd name="connsiteY12" fmla="*/ 19416 h 125321"/>
              <a:gd name="connsiteX13" fmla="*/ 9267 w 162092"/>
              <a:gd name="connsiteY13" fmla="*/ 19416 h 125321"/>
              <a:gd name="connsiteX14" fmla="*/ 9267 w 162092"/>
              <a:gd name="connsiteY14" fmla="*/ 0 h 125321"/>
            </a:gdLst>
            <a:ahLst/>
            <a:cxnLst/>
            <a:rect l="l" t="t" r="r" b="b"/>
            <a:pathLst>
              <a:path w="162092" h="125321">
                <a:moveTo>
                  <a:pt x="9855" y="105905"/>
                </a:moveTo>
                <a:lnTo>
                  <a:pt x="152826" y="105905"/>
                </a:lnTo>
                <a:cubicBezTo>
                  <a:pt x="165181" y="105905"/>
                  <a:pt x="165181" y="125321"/>
                  <a:pt x="152826" y="125321"/>
                </a:cubicBezTo>
                <a:lnTo>
                  <a:pt x="9855" y="125321"/>
                </a:lnTo>
                <a:cubicBezTo>
                  <a:pt x="-2501" y="125321"/>
                  <a:pt x="-2501" y="105905"/>
                  <a:pt x="9855" y="105905"/>
                </a:cubicBezTo>
                <a:close/>
                <a:moveTo>
                  <a:pt x="9855" y="52952"/>
                </a:moveTo>
                <a:lnTo>
                  <a:pt x="116936" y="52952"/>
                </a:lnTo>
                <a:cubicBezTo>
                  <a:pt x="129292" y="52952"/>
                  <a:pt x="129292" y="72368"/>
                  <a:pt x="116936" y="72368"/>
                </a:cubicBezTo>
                <a:lnTo>
                  <a:pt x="9855" y="72368"/>
                </a:lnTo>
                <a:cubicBezTo>
                  <a:pt x="-2501" y="72368"/>
                  <a:pt x="-2501" y="52952"/>
                  <a:pt x="9855" y="52952"/>
                </a:cubicBezTo>
                <a:close/>
                <a:moveTo>
                  <a:pt x="9267" y="0"/>
                </a:moveTo>
                <a:lnTo>
                  <a:pt x="152238" y="0"/>
                </a:lnTo>
                <a:cubicBezTo>
                  <a:pt x="164593" y="0"/>
                  <a:pt x="164593" y="19416"/>
                  <a:pt x="152238" y="19416"/>
                </a:cubicBezTo>
                <a:lnTo>
                  <a:pt x="9267" y="19416"/>
                </a:lnTo>
                <a:cubicBezTo>
                  <a:pt x="-3089" y="19416"/>
                  <a:pt x="-3089" y="0"/>
                  <a:pt x="9267" y="0"/>
                </a:cubicBezTo>
                <a:close/>
              </a:path>
            </a:pathLst>
          </a:custGeom>
          <a:solidFill>
            <a:schemeClr val="bg1"/>
          </a:solidFill>
          <a:ln w="5879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1152430" y="500202"/>
            <a:ext cx="129755" cy="129774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48016" y="1509703"/>
            <a:ext cx="5733710" cy="294605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6900">
                <a:ln w="12700"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accent3"/>
                    </a:gs>
                  </a:gsLst>
                  <a:lin ang="0" scaled="0"/>
                </a:gra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0549E5"/>
      </a:accent1>
      <a:accent2>
        <a:srgbClr val="9B37FF"/>
      </a:accent2>
      <a:accent3>
        <a:srgbClr val="44D7FA"/>
      </a:accent3>
      <a:accent4>
        <a:srgbClr val="DAAF31"/>
      </a:accent4>
      <a:accent5>
        <a:srgbClr val="0009C0"/>
      </a:accent5>
      <a:accent6>
        <a:srgbClr val="3952CD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450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poppins-bold</vt:lpstr>
      <vt:lpstr>Poppins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Ramya Reddy Koppula</cp:lastModifiedBy>
  <cp:revision>1</cp:revision>
  <dcterms:modified xsi:type="dcterms:W3CDTF">2025-11-08T15:48:01Z</dcterms:modified>
</cp:coreProperties>
</file>